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Helvetica Neue"/>
      <p:regular r:id="rId28"/>
      <p:bold r:id="rId29"/>
      <p:italic r:id="rId30"/>
      <p:boldItalic r:id="rId31"/>
    </p:embeddedFont>
    <p:embeddedFont>
      <p:font typeface="Source Sans Pr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6" roundtripDataSignature="AMtx7mj2U3gprhFLUWDHnE5TobUTfSek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oboto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HelveticaNeue-regular.fntdata"/><Relationship Id="rId27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HelveticaNeu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11" Type="http://schemas.openxmlformats.org/officeDocument/2006/relationships/slide" Target="slides/slide7.xml"/><Relationship Id="rId33" Type="http://schemas.openxmlformats.org/officeDocument/2006/relationships/font" Target="fonts/SourceSansPro-bold.fntdata"/><Relationship Id="rId10" Type="http://schemas.openxmlformats.org/officeDocument/2006/relationships/slide" Target="slides/slide6.xml"/><Relationship Id="rId32" Type="http://schemas.openxmlformats.org/officeDocument/2006/relationships/font" Target="fonts/SourceSansPro-regular.fntdata"/><Relationship Id="rId13" Type="http://schemas.openxmlformats.org/officeDocument/2006/relationships/slide" Target="slides/slide9.xml"/><Relationship Id="rId35" Type="http://schemas.openxmlformats.org/officeDocument/2006/relationships/font" Target="fonts/SourceSansPro-boldItalic.fntdata"/><Relationship Id="rId12" Type="http://schemas.openxmlformats.org/officeDocument/2006/relationships/slide" Target="slides/slide8.xml"/><Relationship Id="rId34" Type="http://schemas.openxmlformats.org/officeDocument/2006/relationships/font" Target="fonts/SourceSansPro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1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2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" name="Google Shape;25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26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2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2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8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28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2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2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9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9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2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30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data.gov.sg/dataset/resale-flat-price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hyperlink" Target="https://public.tableau.com/app/profile/zion1072/viz/Capstone_16434486425550/Story1?publish=ye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-GB" sz="4000"/>
              <a:t>Resale Flat Prices</a:t>
            </a:r>
            <a:endParaRPr b="1" sz="4000"/>
          </a:p>
        </p:txBody>
      </p:sp>
      <p:pic>
        <p:nvPicPr>
          <p:cNvPr id="68" name="Google Shape;6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0" name="Google Shape;70;p1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Case Study of Resale Flat Prices</a:t>
            </a:r>
            <a:endParaRPr b="1" sz="2400"/>
          </a:p>
        </p:txBody>
      </p:sp>
      <p:pic>
        <p:nvPicPr>
          <p:cNvPr id="76" name="Google Shape;7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1" marL="86995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are the changes in resale flat prices since 2017?</a:t>
            </a:r>
            <a:endParaRPr/>
          </a:p>
          <a:p>
            <a:pPr indent="-285750" lvl="1" marL="869950" marR="0" rtl="0" algn="l">
              <a:lnSpc>
                <a:spcPct val="12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are the most affordable area for resale flat?</a:t>
            </a:r>
            <a:endParaRPr/>
          </a:p>
          <a:p>
            <a:pPr indent="-285750" lvl="1" marL="869950" marR="0" rtl="0" algn="l">
              <a:lnSpc>
                <a:spcPct val="12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are the best area for investment?</a:t>
            </a:r>
            <a:endParaRPr/>
          </a:p>
          <a:p>
            <a:pPr indent="-228600" lvl="1" marL="914400" marR="0" rtl="0" algn="l">
              <a:lnSpc>
                <a:spcPct val="125000"/>
              </a:lnSpc>
              <a:spcBef>
                <a:spcPts val="2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Data </a:t>
            </a:r>
            <a:endParaRPr b="1" sz="2400"/>
          </a:p>
        </p:txBody>
      </p:sp>
      <p:pic>
        <p:nvPicPr>
          <p:cNvPr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308550" y="102408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is taken from </a:t>
            </a:r>
            <a:r>
              <a:rPr b="0" i="0" lang="en-GB" sz="15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https://data.gov.sg/dataset/resale-flat-prices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is from January 2017 to January 2022</a:t>
            </a:r>
            <a:endParaRPr/>
          </a:p>
          <a:p>
            <a:pPr indent="0" lvl="0" marL="133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is based on date of registration for the resale transactions</a:t>
            </a:r>
            <a:endParaRPr/>
          </a:p>
          <a:p>
            <a:pPr indent="0" lvl="0" marL="133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191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is a total of 118732 listing.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Exploratory Data Analysis (1/2)</a:t>
            </a:r>
            <a:endParaRPr b="1" sz="2400"/>
          </a:p>
        </p:txBody>
      </p:sp>
      <p:pic>
        <p:nvPicPr>
          <p:cNvPr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7429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how the data appears before any cleaning</a:t>
            </a:r>
            <a:endParaRPr/>
          </a:p>
          <a:p>
            <a:pPr indent="-285750" lvl="0" marL="74295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for correct data type and any missing values.</a:t>
            </a:r>
            <a:endParaRPr/>
          </a:p>
          <a:p>
            <a:pPr indent="-190500" lvl="0" marL="74295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742950" marR="0" rtl="0" algn="l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678" y="2303600"/>
            <a:ext cx="5098953" cy="1446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9072" y="979102"/>
            <a:ext cx="1779745" cy="173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9072" y="2815469"/>
            <a:ext cx="1798071" cy="1748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Exploratory Data Analysis (1/2)</a:t>
            </a:r>
            <a:endParaRPr b="1" sz="2400"/>
          </a:p>
        </p:txBody>
      </p:sp>
      <p:pic>
        <p:nvPicPr>
          <p:cNvPr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7429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resale_price converted to INT to get rid of demicals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74295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month converted to datetime </a:t>
            </a:r>
            <a:endParaRPr/>
          </a:p>
          <a:p>
            <a:pPr indent="-285750" lvl="0" marL="74295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GB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remaining_lease to be split and return years value only</a:t>
            </a:r>
            <a:endParaRPr/>
          </a:p>
          <a:p>
            <a:pPr indent="-190500" lvl="0" marL="74295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74295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742950" marR="0" rtl="0" algn="l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8480" y="2316916"/>
            <a:ext cx="7001181" cy="2372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Exploratory Data Analysis (2/2)</a:t>
            </a:r>
            <a:endParaRPr b="1" sz="2400"/>
          </a:p>
        </p:txBody>
      </p:sp>
      <p:pic>
        <p:nvPicPr>
          <p:cNvPr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Here is a map view of the average price of resale flats depending on location </a:t>
            </a:r>
            <a:endParaRPr/>
          </a:p>
        </p:txBody>
      </p:sp>
      <p:pic>
        <p:nvPicPr>
          <p:cNvPr id="115" name="Google Shape;11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4338" y="1467384"/>
            <a:ext cx="6245257" cy="340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Exploratory Data Analysis (2/2)</a:t>
            </a:r>
            <a:endParaRPr b="1" sz="2400"/>
          </a:p>
        </p:txBody>
      </p:sp>
      <p:pic>
        <p:nvPicPr>
          <p:cNvPr id="121" name="Google Shape;12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Here we can see the median price of different flat types for each town.</a:t>
            </a:r>
            <a:endParaRPr/>
          </a:p>
        </p:txBody>
      </p:sp>
      <p:pic>
        <p:nvPicPr>
          <p:cNvPr id="124" name="Google Shape;12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6995" y="1476425"/>
            <a:ext cx="5726002" cy="3113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Exploratory Data Analysis (2/2)</a:t>
            </a:r>
            <a:endParaRPr b="1" sz="2400"/>
          </a:p>
        </p:txBody>
      </p:sp>
      <p:pic>
        <p:nvPicPr>
          <p:cNvPr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8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308550" y="1066262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Here we can see how much the resale price has changed since 2017 Q1. </a:t>
            </a:r>
            <a:endParaRPr/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0697" y="1429717"/>
            <a:ext cx="6190537" cy="3397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Exploratory Data Analysis (2/2)</a:t>
            </a:r>
            <a:endParaRPr b="1" sz="2400"/>
          </a:p>
        </p:txBody>
      </p:sp>
      <p:pic>
        <p:nvPicPr>
          <p:cNvPr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9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308550" y="1014300"/>
            <a:ext cx="5378333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Median Price of Resale Flats plotted against flat types and square metres(sqm)</a:t>
            </a:r>
            <a:endParaRPr/>
          </a:p>
          <a:p>
            <a: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Room and 2 Room flats cost more per sqm even though they cost lest than the others</a:t>
            </a:r>
            <a:endParaRPr/>
          </a:p>
        </p:txBody>
      </p:sp>
      <p:pic>
        <p:nvPicPr>
          <p:cNvPr id="142" name="Google Shape;14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2266" y="1040439"/>
            <a:ext cx="3432132" cy="3348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Exploratory Data Analysis (2/2)</a:t>
            </a:r>
            <a:endParaRPr b="1" sz="2400"/>
          </a:p>
        </p:txBody>
      </p:sp>
      <p:pic>
        <p:nvPicPr>
          <p:cNvPr id="148" name="Google Shape;1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0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308550" y="1066262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Median Price of Resale Flat plotted against storey range and flat type</a:t>
            </a:r>
            <a:endParaRPr/>
          </a:p>
        </p:txBody>
      </p:sp>
      <p:pic>
        <p:nvPicPr>
          <p:cNvPr id="151" name="Google Shape;15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4559" y="1506071"/>
            <a:ext cx="4860763" cy="3321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Dashboard</a:t>
            </a:r>
            <a:endParaRPr b="1" sz="2400"/>
          </a:p>
        </p:txBody>
      </p:sp>
      <p:pic>
        <p:nvPicPr>
          <p:cNvPr id="157" name="Google Shape;1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1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341316" y="1012196"/>
            <a:ext cx="80682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https://public.tableau.com/app/profile/zion1072/viz/Capstone_16434486425550/Story1?publish=yes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Strategy: Key Recommendations</a:t>
            </a:r>
            <a:endParaRPr b="1" sz="2400"/>
          </a:p>
        </p:txBody>
      </p:sp>
      <p:pic>
        <p:nvPicPr>
          <p:cNvPr id="165" name="Google Shape;16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2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67" name="Google Shape;167;p12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are the most affordable area for resale flats?</a:t>
            </a:r>
            <a:endParaRPr/>
          </a:p>
          <a:p>
            <a:pPr indent="0" lvl="0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Ranking from most to least affordable - North, West, East, South and Central Area.</a:t>
            </a:r>
            <a:endParaRPr/>
          </a:p>
          <a:p>
            <a:pPr indent="-1841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not recommended to purchase a 1 Room flat because they have the least resale value of 5.3% even though they are the cheapest.</a:t>
            </a:r>
            <a:endParaRPr/>
          </a:p>
          <a:p>
            <a:pPr indent="-1841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Flats that are on lower floor will be cheaper than those on higher floors, this applies for 2 to 5 Room flats.</a:t>
            </a:r>
            <a:endParaRPr/>
          </a:p>
          <a:p>
            <a:pPr indent="0" lvl="0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recommendation for most affordable area for resale flats will be flats located in the North with lower floors. </a:t>
            </a:r>
            <a:endParaRPr/>
          </a:p>
          <a:p>
            <a:pPr indent="-1841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2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Strategy: Key Recommendations</a:t>
            </a:r>
            <a:endParaRPr b="1" sz="2400"/>
          </a:p>
        </p:txBody>
      </p:sp>
      <p:pic>
        <p:nvPicPr>
          <p:cNvPr id="173" name="Google Shape;1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3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are best area for investment?</a:t>
            </a:r>
            <a:endParaRPr/>
          </a:p>
          <a:p>
            <a:pPr indent="0" lvl="0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 3 Highest growth in resale flats price since 2017 Q1</a:t>
            </a:r>
            <a:endParaRPr/>
          </a:p>
          <a:p>
            <a:pPr indent="0" lvl="1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- 5 Room, 22.4%</a:t>
            </a:r>
            <a:endParaRPr/>
          </a:p>
          <a:p>
            <a:pPr indent="0" lvl="1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- Executive, 21.7%</a:t>
            </a:r>
            <a:endParaRPr/>
          </a:p>
          <a:p>
            <a:pPr indent="0" lvl="1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- 4 Room, 20.1%</a:t>
            </a:r>
            <a:endParaRPr/>
          </a:p>
          <a:p>
            <a:pPr indent="0" lvl="1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will analyse these 3 type of flats in each town to determine best area</a:t>
            </a:r>
            <a:endParaRPr/>
          </a:p>
          <a:p>
            <a:pPr indent="-1841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2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Strategy: Key Recommendations</a:t>
            </a:r>
            <a:endParaRPr b="1" sz="2400"/>
          </a:p>
        </p:txBody>
      </p:sp>
      <p:pic>
        <p:nvPicPr>
          <p:cNvPr id="181" name="Google Shape;1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4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Here we analyse the % increase for median prices of 4 room resale flats</a:t>
            </a:r>
            <a:endParaRPr/>
          </a:p>
          <a:p>
            <a:pPr indent="0" lvl="2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4" name="Google Shape;18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052" y="1527772"/>
            <a:ext cx="7623260" cy="2522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Strategy: Key Recommendations</a:t>
            </a:r>
            <a:endParaRPr b="1" sz="2400"/>
          </a:p>
        </p:txBody>
      </p:sp>
      <p:pic>
        <p:nvPicPr>
          <p:cNvPr id="190" name="Google Shape;1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5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Here we analyse the % increase for median prices of 5 room resale flats</a:t>
            </a:r>
            <a:endParaRPr/>
          </a:p>
          <a:p>
            <a:pPr indent="0" lvl="2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3" name="Google Shape;19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509" y="1539503"/>
            <a:ext cx="7617141" cy="2499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Strategy: Key Recommendations</a:t>
            </a:r>
            <a:endParaRPr b="1" sz="2400"/>
          </a:p>
        </p:txBody>
      </p:sp>
      <p:pic>
        <p:nvPicPr>
          <p:cNvPr id="199" name="Google Shape;1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6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Here we analyse the % increase for median prices of executive resale flats</a:t>
            </a:r>
            <a:endParaRPr/>
          </a:p>
          <a:p>
            <a:pPr indent="0" lvl="2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2" name="Google Shape;20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354" y="1658703"/>
            <a:ext cx="7743208" cy="2365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Strategy: Key Recommendations</a:t>
            </a:r>
            <a:endParaRPr b="1" sz="2400"/>
          </a:p>
        </p:txBody>
      </p:sp>
      <p:pic>
        <p:nvPicPr>
          <p:cNvPr id="208" name="Google Shape;2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are best area for investment?</a:t>
            </a:r>
            <a:endParaRPr/>
          </a:p>
          <a:p>
            <a:pPr indent="0" lvl="0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can see that since 2017, the prices of Choa Chu Kang flats has been increasing the fastest</a:t>
            </a:r>
            <a:endParaRPr/>
          </a:p>
          <a:p>
            <a:pPr indent="0" lvl="0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areas that also increasing a fast rate are Yishun, Hougang and Sengkang, located in the north-east.</a:t>
            </a:r>
            <a:endParaRPr/>
          </a:p>
          <a:p>
            <a:pPr indent="0" lvl="0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recommendation for the best area for investment will be Choa Chu kang.</a:t>
            </a:r>
            <a:endParaRPr/>
          </a:p>
          <a:p>
            <a:pPr indent="-1841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841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841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84150" lvl="0" marL="41275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2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>
            <p:ph type="title"/>
          </p:nvPr>
        </p:nvSpPr>
        <p:spPr>
          <a:xfrm>
            <a:off x="57550" y="0"/>
            <a:ext cx="9073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GB" sz="2400"/>
              <a:t>Conclusion</a:t>
            </a:r>
            <a:endParaRPr b="1" sz="2400"/>
          </a:p>
        </p:txBody>
      </p:sp>
      <p:pic>
        <p:nvPicPr>
          <p:cNvPr id="216" name="Google Shape;2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308550" y="1014300"/>
            <a:ext cx="85269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most affordable area for resale flats will be at the North with lower floors. </a:t>
            </a:r>
            <a:endParaRPr/>
          </a:p>
          <a:p>
            <a: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best area for investment will be Choa Chu Kang.</a:t>
            </a:r>
            <a:endParaRPr/>
          </a:p>
          <a:p>
            <a:pPr indent="0" lvl="0" marL="127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However, median prices of resale flats are also affected by the development of the area and government policies. Buyers have to take these into consideration when deciding on a resale flat.</a:t>
            </a:r>
            <a:endParaRPr/>
          </a:p>
          <a:p>
            <a: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analysis has identified Choa Chua Kang to be the best area of investment but there could be better options with more data on the development of the area.</a:t>
            </a:r>
            <a:endParaRPr/>
          </a:p>
          <a:p>
            <a: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GB"/>
              <a:t>THANK YOU</a:t>
            </a:r>
            <a:endParaRPr b="1"/>
          </a:p>
        </p:txBody>
      </p:sp>
      <p:pic>
        <p:nvPicPr>
          <p:cNvPr id="224" name="Google Shape;2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673" y="4689122"/>
            <a:ext cx="1363725" cy="3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9"/>
          <p:cNvSpPr txBox="1"/>
          <p:nvPr/>
        </p:nvSpPr>
        <p:spPr>
          <a:xfrm>
            <a:off x="74050" y="4827107"/>
            <a:ext cx="83355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Copyright © 2020. Smartcademy Pte. Ltd. All rights reserved.</a:t>
            </a:r>
            <a:endParaRPr b="0" i="0" sz="1000" u="none" cap="none" strike="noStrike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ziond</dc:creator>
</cp:coreProperties>
</file>