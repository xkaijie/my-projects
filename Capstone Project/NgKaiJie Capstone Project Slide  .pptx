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23"/>
  </p:notesMasterIdLst>
  <p:sldIdLst>
    <p:sldId id="256" r:id="rId2"/>
    <p:sldId id="258" r:id="rId3"/>
    <p:sldId id="268" r:id="rId4"/>
    <p:sldId id="287" r:id="rId5"/>
    <p:sldId id="260" r:id="rId6"/>
    <p:sldId id="269" r:id="rId7"/>
    <p:sldId id="261" r:id="rId8"/>
    <p:sldId id="285" r:id="rId9"/>
    <p:sldId id="283" r:id="rId10"/>
    <p:sldId id="282" r:id="rId11"/>
    <p:sldId id="262" r:id="rId12"/>
    <p:sldId id="281" r:id="rId13"/>
    <p:sldId id="290" r:id="rId14"/>
    <p:sldId id="289" r:id="rId15"/>
    <p:sldId id="291" r:id="rId16"/>
    <p:sldId id="288" r:id="rId17"/>
    <p:sldId id="276" r:id="rId18"/>
    <p:sldId id="286" r:id="rId19"/>
    <p:sldId id="265" r:id="rId20"/>
    <p:sldId id="284" r:id="rId21"/>
    <p:sldId id="266" r:id="rId22"/>
  </p:sldIdLst>
  <p:sldSz cx="9144000" cy="5143500" type="screen16x9"/>
  <p:notesSz cx="6858000" cy="9144000"/>
  <p:embeddedFontLst>
    <p:embeddedFont>
      <p:font typeface="Helvetica Neue" panose="020B0604020202020204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  <p:embeddedFont>
      <p:font typeface="Source Sans Pro" panose="020B0503030403020204" pitchFamily="34" charset="0"/>
      <p:regular r:id="rId32"/>
      <p:bold r:id="rId33"/>
      <p:italic r:id="rId34"/>
      <p:boldItalic r:id="rId35"/>
    </p:embeddedFont>
    <p:embeddedFont>
      <p:font typeface="Viga" panose="020B0604020202020204" charset="0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F4472D6-D795-B5D8-F3ED-6F08A56D9693}" name="NG Li Ting" initials="NLT" userId="NG Li Ting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50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bb82ae0a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bb82ae0a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834ccb0f5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834ccb0f5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marR="0" lvl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tabLst/>
              <a:defRPr/>
            </a:pPr>
            <a:r>
              <a:rPr lang="en" dirty="0">
                <a:latin typeface="+mj-lt"/>
                <a:ea typeface="Helvetica Neue"/>
                <a:cs typeface="Helvetica Neue"/>
                <a:sym typeface="Helvetica Neue"/>
              </a:rPr>
              <a:t>Problem Statement</a:t>
            </a:r>
          </a:p>
          <a:p>
            <a:pPr marL="914400" lvl="1" indent="-33020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Helvetica Neue"/>
              <a:buChar char="○"/>
            </a:pPr>
            <a:r>
              <a:rPr lang="en-SG" dirty="0">
                <a:latin typeface="+mj-lt"/>
                <a:ea typeface="Helvetica Neue"/>
                <a:cs typeface="Helvetica Neue"/>
                <a:sym typeface="Helvetica Neue"/>
              </a:rPr>
              <a:t>Ideal – Describe a desired goal or ideal situation</a:t>
            </a:r>
          </a:p>
          <a:p>
            <a:pPr marL="914400" lvl="1" indent="-33020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Helvetica Neue"/>
              <a:buChar char="○"/>
            </a:pPr>
            <a:r>
              <a:rPr lang="en-SG" dirty="0">
                <a:latin typeface="+mj-lt"/>
                <a:ea typeface="Helvetica Neue"/>
                <a:cs typeface="Helvetica Neue"/>
                <a:sym typeface="Helvetica Neue"/>
              </a:rPr>
              <a:t>Reality – Describe a condition that prevents the goal, state or value in Part A from being achieved or realized at this time; explains how the current situation falls short of the goal or ideal</a:t>
            </a:r>
          </a:p>
          <a:p>
            <a:pPr marL="914400" lvl="1" indent="-33020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Helvetica Neue"/>
              <a:buChar char="○"/>
            </a:pPr>
            <a:r>
              <a:rPr lang="en-SG" dirty="0">
                <a:latin typeface="+mj-lt"/>
                <a:ea typeface="Helvetica Neue"/>
                <a:cs typeface="Helvetica Neue"/>
                <a:sym typeface="Helvetica Neue"/>
              </a:rPr>
              <a:t>Consequences – Identifies the way you propose to improve the current situation and move it closer to the goal or ideal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34ccb0f52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34ccb0f52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7972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34ccb0f52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34ccb0f52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1574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98825cd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98825cd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98825cd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98825cd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6859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e18838c16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e18838c162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e18838c16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e18838c162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1457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834ccb0f5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834ccb0f52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1753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834ccb0f5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834ccb0f52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5331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98825cd3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d98825cd3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834ccb0f5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834ccb0f52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38456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834ccb0f5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834ccb0f52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33222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834ccb0f5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834ccb0f52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1721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834ccb0f5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834ccb0f52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94350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834ccb0f5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834ccb0f52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51876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834ccb0f5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834ccb0f52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4618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834ccb0f5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834ccb0f52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22728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834ccb0f52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834ccb0f52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834ccb0f52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834ccb0f52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41952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02fb2db6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02fb2db6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74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86251" y="48760"/>
            <a:ext cx="2286001" cy="53788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0" y="4804800"/>
            <a:ext cx="7336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urce Sans Pro"/>
                <a:ea typeface="Source Sans Pro"/>
                <a:cs typeface="Source Sans Pro"/>
                <a:sym typeface="Source Sans Pro"/>
              </a:rPr>
              <a:t>Copyright © 2022. Smartcademy Pte. Ltd. All rights reserved.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/>
        </p:nvSpPr>
        <p:spPr>
          <a:xfrm rot="10800000" flipH="1">
            <a:off x="3386175" y="25"/>
            <a:ext cx="57579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0" y="4804800"/>
            <a:ext cx="7336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urce Sans Pro"/>
                <a:ea typeface="Source Sans Pro"/>
                <a:cs typeface="Source Sans Pro"/>
                <a:sym typeface="Source Sans Pro"/>
              </a:rPr>
              <a:t>Copyright © 2022. Smartcademy Pte. Ltd. All rights reserved.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9075" y="4782792"/>
            <a:ext cx="1188721" cy="28451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 rot="-5400000">
            <a:off x="869025" y="25174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0" y="4804800"/>
            <a:ext cx="7336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urce Sans Pro"/>
                <a:ea typeface="Source Sans Pro"/>
                <a:cs typeface="Source Sans Pro"/>
                <a:sym typeface="Source Sans Pro"/>
              </a:rPr>
              <a:t>Copyright © 2022. Smartcademy Pte. Ltd. All rights reserved.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9075" y="4782792"/>
            <a:ext cx="1188721" cy="284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6"/>
          <p:cNvSpPr txBox="1"/>
          <p:nvPr/>
        </p:nvSpPr>
        <p:spPr>
          <a:xfrm>
            <a:off x="0" y="4804800"/>
            <a:ext cx="7336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urce Sans Pro"/>
                <a:ea typeface="Source Sans Pro"/>
                <a:cs typeface="Source Sans Pro"/>
                <a:sym typeface="Source Sans Pro"/>
              </a:rPr>
              <a:t>Copyright © 2022. Smartcademy Pte. Ltd. All rights reserved.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" name="Google Shape;4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9075" y="4782792"/>
            <a:ext cx="1188721" cy="284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7"/>
          <p:cNvSpPr txBox="1"/>
          <p:nvPr/>
        </p:nvSpPr>
        <p:spPr>
          <a:xfrm>
            <a:off x="0" y="4804800"/>
            <a:ext cx="7336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urce Sans Pro"/>
                <a:ea typeface="Source Sans Pro"/>
                <a:cs typeface="Source Sans Pro"/>
                <a:sym typeface="Source Sans Pro"/>
              </a:rPr>
              <a:t>Copyright © 2022. Smartcademy Pte. Ltd. All rights reserved.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" name="Google Shape;4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9075" y="4782792"/>
            <a:ext cx="1188721" cy="284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0" y="4804800"/>
            <a:ext cx="7336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urce Sans Pro"/>
                <a:ea typeface="Source Sans Pro"/>
                <a:cs typeface="Source Sans Pro"/>
                <a:sym typeface="Source Sans Pro"/>
              </a:rPr>
              <a:t>Copyright © 2022. Smartcademy Pte. Ltd. All rights reserved.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" name="Google Shape;5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9075" y="4782792"/>
            <a:ext cx="1188721" cy="284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9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9"/>
          <p:cNvSpPr txBox="1"/>
          <p:nvPr/>
        </p:nvSpPr>
        <p:spPr>
          <a:xfrm>
            <a:off x="0" y="4804800"/>
            <a:ext cx="7336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urce Sans Pro"/>
                <a:ea typeface="Source Sans Pro"/>
                <a:cs typeface="Source Sans Pro"/>
                <a:sym typeface="Source Sans Pro"/>
              </a:rPr>
              <a:t>Copyright © 2022. Smartcademy Pte. Ltd. All rights reserved.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9075" y="4782792"/>
            <a:ext cx="1188721" cy="284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0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0"/>
          <p:cNvSpPr txBox="1"/>
          <p:nvPr/>
        </p:nvSpPr>
        <p:spPr>
          <a:xfrm>
            <a:off x="0" y="4804800"/>
            <a:ext cx="7336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urce Sans Pro"/>
                <a:ea typeface="Source Sans Pro"/>
                <a:cs typeface="Source Sans Pro"/>
                <a:sym typeface="Source Sans Pro"/>
              </a:rPr>
              <a:t>Copyright © 2022. Smartcademy Pte. Ltd. All rights reserved.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3" name="Google Shape;7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9075" y="4782792"/>
            <a:ext cx="1188721" cy="284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1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/>
        </p:nvSpPr>
        <p:spPr>
          <a:xfrm>
            <a:off x="0" y="4804800"/>
            <a:ext cx="7336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urce Sans Pro"/>
                <a:ea typeface="Source Sans Pro"/>
                <a:cs typeface="Source Sans Pro"/>
                <a:sym typeface="Source Sans Pro"/>
              </a:rPr>
              <a:t>Copyright © 2022. Smartcademy Pte. Ltd. All rights reserved.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9075" y="4782792"/>
            <a:ext cx="1188721" cy="284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2"/>
          <p:cNvSpPr txBox="1"/>
          <p:nvPr/>
        </p:nvSpPr>
        <p:spPr>
          <a:xfrm>
            <a:off x="0" y="4804800"/>
            <a:ext cx="7336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urce Sans Pro"/>
                <a:ea typeface="Source Sans Pro"/>
                <a:cs typeface="Source Sans Pro"/>
                <a:sym typeface="Source Sans Pro"/>
              </a:rPr>
              <a:t>Copyright © 2022. Smartcademy Pte. Ltd. All rights reserved.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3" name="Google Shape;8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9075" y="4782792"/>
            <a:ext cx="1188721" cy="284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314938" y="1761750"/>
            <a:ext cx="2730300" cy="162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3"/>
          <p:cNvSpPr/>
          <p:nvPr/>
        </p:nvSpPr>
        <p:spPr>
          <a:xfrm flipH="1">
            <a:off x="1098750" y="1761750"/>
            <a:ext cx="2730300" cy="162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1185300" y="1993550"/>
            <a:ext cx="2557200" cy="11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2"/>
          </p:nvPr>
        </p:nvSpPr>
        <p:spPr>
          <a:xfrm>
            <a:off x="5401475" y="1993550"/>
            <a:ext cx="2557200" cy="11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>
                <a:solidFill>
                  <a:schemeClr val="accent4"/>
                </a:solidFill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555900" y="540000"/>
            <a:ext cx="31311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3"/>
          </p:nvPr>
        </p:nvSpPr>
        <p:spPr>
          <a:xfrm>
            <a:off x="5442254" y="4007625"/>
            <a:ext cx="3131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9075" y="4782792"/>
            <a:ext cx="1188721" cy="28451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0" y="4804800"/>
            <a:ext cx="7336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urce Sans Pro"/>
                <a:ea typeface="Source Sans Pro"/>
                <a:cs typeface="Source Sans Pro"/>
                <a:sym typeface="Source Sans Pro"/>
              </a:rPr>
              <a:t>Copyright © 2022. Smartcademy Pte. Ltd. All rights reserved.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accen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973550" y="720000"/>
            <a:ext cx="7197000" cy="11634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973550" y="3461375"/>
            <a:ext cx="27774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2" hasCustomPrompt="1"/>
          </p:nvPr>
        </p:nvSpPr>
        <p:spPr>
          <a:xfrm>
            <a:off x="6147325" y="3529625"/>
            <a:ext cx="975300" cy="72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6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9075" y="4782792"/>
            <a:ext cx="1188721" cy="28451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0" y="4804800"/>
            <a:ext cx="7336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urce Sans Pro"/>
                <a:ea typeface="Source Sans Pro"/>
                <a:cs typeface="Source Sans Pro"/>
                <a:sym typeface="Source Sans Pro"/>
              </a:rPr>
              <a:t>Copyright © 2022. Smartcademy Pte. Ltd. All rights reserved.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9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540000" y="540725"/>
            <a:ext cx="8100000" cy="72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1"/>
          </p:nvPr>
        </p:nvSpPr>
        <p:spPr>
          <a:xfrm>
            <a:off x="522004" y="3330000"/>
            <a:ext cx="16200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>
                <a:solidFill>
                  <a:schemeClr val="accen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body" idx="2"/>
          </p:nvPr>
        </p:nvSpPr>
        <p:spPr>
          <a:xfrm>
            <a:off x="2682001" y="3330000"/>
            <a:ext cx="16200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>
                <a:solidFill>
                  <a:schemeClr val="accen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3"/>
          </p:nvPr>
        </p:nvSpPr>
        <p:spPr>
          <a:xfrm>
            <a:off x="4841999" y="3330000"/>
            <a:ext cx="16200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>
                <a:solidFill>
                  <a:schemeClr val="accen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4"/>
          </p:nvPr>
        </p:nvSpPr>
        <p:spPr>
          <a:xfrm>
            <a:off x="7001996" y="3330000"/>
            <a:ext cx="16200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>
                <a:solidFill>
                  <a:schemeClr val="accen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subTitle" idx="5"/>
          </p:nvPr>
        </p:nvSpPr>
        <p:spPr>
          <a:xfrm>
            <a:off x="522004" y="2893800"/>
            <a:ext cx="1620000" cy="360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1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subTitle" idx="6"/>
          </p:nvPr>
        </p:nvSpPr>
        <p:spPr>
          <a:xfrm>
            <a:off x="2682001" y="2893800"/>
            <a:ext cx="1620000" cy="3600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1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subTitle" idx="7"/>
          </p:nvPr>
        </p:nvSpPr>
        <p:spPr>
          <a:xfrm>
            <a:off x="4841999" y="2893800"/>
            <a:ext cx="1620000" cy="360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1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subTitle" idx="8"/>
          </p:nvPr>
        </p:nvSpPr>
        <p:spPr>
          <a:xfrm>
            <a:off x="7001996" y="2893800"/>
            <a:ext cx="1620000" cy="3600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1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9075" y="4782792"/>
            <a:ext cx="1188721" cy="28451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0" y="4804800"/>
            <a:ext cx="7336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urce Sans Pro"/>
                <a:ea typeface="Source Sans Pro"/>
                <a:cs typeface="Source Sans Pro"/>
                <a:sym typeface="Source Sans Pro"/>
              </a:rPr>
              <a:t>Copyright © 2022. Smartcademy Pte. Ltd. All rights reserved.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APTION_ONLY_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6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7" name="Google Shape;117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9075" y="4782792"/>
            <a:ext cx="1188721" cy="28451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0" y="4804800"/>
            <a:ext cx="7336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urce Sans Pro"/>
                <a:ea typeface="Source Sans Pro"/>
                <a:cs typeface="Source Sans Pro"/>
                <a:sym typeface="Source Sans Pro"/>
              </a:rPr>
              <a:t>Copyright © 2022. Smartcademy Pte. Ltd. All rights reserved.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imranjain17/insuranc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kaijie.ng/viz/CaseStudyInsurance/InsurancePremiumsDashboard?publish=ye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>
            <a:spLocks noGrp="1"/>
          </p:cNvSpPr>
          <p:nvPr>
            <p:ph type="ctrTitle"/>
          </p:nvPr>
        </p:nvSpPr>
        <p:spPr>
          <a:xfrm>
            <a:off x="390525" y="1514474"/>
            <a:ext cx="8222100" cy="158041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/>
              <a:t>Case Study 3</a:t>
            </a:r>
            <a:br>
              <a:rPr lang="en" sz="4000" b="1" dirty="0"/>
            </a:br>
            <a:r>
              <a:rPr lang="en" sz="4000" b="1" dirty="0"/>
              <a:t>Insurance Premium</a:t>
            </a:r>
            <a:endParaRPr sz="4000" b="1" dirty="0"/>
          </a:p>
        </p:txBody>
      </p:sp>
      <p:sp>
        <p:nvSpPr>
          <p:cNvPr id="124" name="Google Shape;124;p17"/>
          <p:cNvSpPr txBox="1">
            <a:spLocks noGrp="1"/>
          </p:cNvSpPr>
          <p:nvPr>
            <p:ph type="subTitle" idx="1"/>
          </p:nvPr>
        </p:nvSpPr>
        <p:spPr>
          <a:xfrm>
            <a:off x="390525" y="2484327"/>
            <a:ext cx="82221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i="1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/>
              <a:t>Case Study – Insurance Premium</a:t>
            </a:r>
            <a:endParaRPr sz="2400" b="1" dirty="0"/>
          </a:p>
        </p:txBody>
      </p:sp>
      <p:sp>
        <p:nvSpPr>
          <p:cNvPr id="136" name="Google Shape;136;p19"/>
          <p:cNvSpPr txBox="1"/>
          <p:nvPr/>
        </p:nvSpPr>
        <p:spPr>
          <a:xfrm>
            <a:off x="308550" y="1001512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marR="0" lvl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tabLst/>
              <a:defRPr/>
            </a:pPr>
            <a:r>
              <a:rPr lang="en" sz="1600" dirty="0">
                <a:latin typeface="Helvetica Neue" panose="020B0604020202020204" charset="0"/>
                <a:ea typeface="Helvetica Neue"/>
                <a:cs typeface="Arial" panose="020B0604020202020204" pitchFamily="34" charset="0"/>
                <a:sym typeface="Helvetica Neue"/>
              </a:rPr>
              <a:t>Problem Statement</a:t>
            </a:r>
          </a:p>
          <a:p>
            <a:pPr marL="914400" lvl="1" indent="-33020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 panose="020B0604020202020204" charset="0"/>
                <a:ea typeface="Helvetica Neue"/>
                <a:cs typeface="Arial" panose="020B0604020202020204" pitchFamily="34" charset="0"/>
                <a:sym typeface="Helvetica Neue"/>
              </a:rPr>
              <a:t>In 2022, Singapore's life expectancy is around 83 years old. </a:t>
            </a:r>
            <a:r>
              <a:rPr lang="en-US" sz="1600" b="1" dirty="0">
                <a:latin typeface="Helvetica Neue" panose="020B0604020202020204" charset="0"/>
                <a:ea typeface="Helvetica Neue"/>
                <a:cs typeface="Arial" panose="020B0604020202020204" pitchFamily="34" charset="0"/>
                <a:sym typeface="Helvetica Neue"/>
              </a:rPr>
              <a:t>Obesity has been rising </a:t>
            </a:r>
            <a:r>
              <a:rPr lang="en-US" sz="1600" dirty="0">
                <a:latin typeface="Helvetica Neue" panose="020B0604020202020204" charset="0"/>
                <a:ea typeface="Helvetica Neue"/>
                <a:cs typeface="Arial" panose="020B0604020202020204" pitchFamily="34" charset="0"/>
                <a:sym typeface="Helvetica Neue"/>
              </a:rPr>
              <a:t>in recent years, leading to </a:t>
            </a:r>
            <a:r>
              <a:rPr lang="en-US" sz="1600" b="1" dirty="0">
                <a:latin typeface="Helvetica Neue" panose="020B0604020202020204" charset="0"/>
                <a:ea typeface="Helvetica Neue"/>
                <a:cs typeface="Arial" panose="020B0604020202020204" pitchFamily="34" charset="0"/>
                <a:sym typeface="Helvetica Neue"/>
              </a:rPr>
              <a:t>a higher risk of health problems </a:t>
            </a:r>
            <a:r>
              <a:rPr lang="en-US" sz="1600" dirty="0">
                <a:latin typeface="Helvetica Neue" panose="020B0604020202020204" charset="0"/>
                <a:ea typeface="Helvetica Neue"/>
                <a:cs typeface="Arial" panose="020B0604020202020204" pitchFamily="34" charset="0"/>
                <a:sym typeface="Helvetica Neue"/>
              </a:rPr>
              <a:t>and shortened life expectancy</a:t>
            </a:r>
          </a:p>
          <a:p>
            <a:pPr marL="914400" lvl="1" indent="-33020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Arial" panose="020B0604020202020204" pitchFamily="34" charset="0"/>
              <a:buChar char="•"/>
            </a:pPr>
            <a:r>
              <a:rPr lang="en-SG" sz="1600" dirty="0">
                <a:effectLst/>
                <a:latin typeface="Helvetica Neue" panose="020B0604020202020204" charset="0"/>
                <a:ea typeface="DengXian" panose="02010600030101010101" pitchFamily="2" charset="-122"/>
                <a:cs typeface="Times New Roman" panose="02020603050405020304" pitchFamily="18" charset="0"/>
              </a:rPr>
              <a:t>Ideally, a </a:t>
            </a:r>
            <a:r>
              <a:rPr lang="en-SG" sz="1600" b="1" dirty="0">
                <a:effectLst/>
                <a:latin typeface="Helvetica Neue" panose="020B0604020202020204" charset="0"/>
                <a:ea typeface="DengXian" panose="02010600030101010101" pitchFamily="2" charset="-122"/>
                <a:cs typeface="Times New Roman" panose="02020603050405020304" pitchFamily="18" charset="0"/>
              </a:rPr>
              <a:t>beneficiary claim should not exceed the customer premium claim.</a:t>
            </a:r>
            <a:r>
              <a:rPr lang="en-SG" sz="1600" dirty="0">
                <a:effectLst/>
                <a:latin typeface="Helvetica Neue" panose="020B0604020202020204" charset="0"/>
                <a:ea typeface="DengXian" panose="02010600030101010101" pitchFamily="2" charset="-122"/>
                <a:cs typeface="Times New Roman" panose="02020603050405020304" pitchFamily="18" charset="0"/>
              </a:rPr>
              <a:t> In reality, due to obesity, </a:t>
            </a:r>
            <a:r>
              <a:rPr lang="en-SG" sz="1600" b="1" dirty="0">
                <a:effectLst/>
                <a:latin typeface="Helvetica Neue" panose="020B0604020202020204" charset="0"/>
                <a:ea typeface="DengXian" panose="02010600030101010101" pitchFamily="2" charset="-122"/>
                <a:cs typeface="Times New Roman" panose="02020603050405020304" pitchFamily="18" charset="0"/>
              </a:rPr>
              <a:t>obese policyholder’s claims had exceeded their </a:t>
            </a:r>
            <a:r>
              <a:rPr lang="en-SG" sz="1600" dirty="0">
                <a:effectLst/>
                <a:latin typeface="Helvetica Neue" panose="020B0604020202020204" charset="0"/>
                <a:ea typeface="DengXian" panose="02010600030101010101" pitchFamily="2" charset="-122"/>
                <a:cs typeface="Times New Roman" panose="02020603050405020304" pitchFamily="18" charset="0"/>
              </a:rPr>
              <a:t>premium </a:t>
            </a:r>
          </a:p>
          <a:p>
            <a:pPr marL="914400" lvl="1" indent="-33020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 panose="020B0604020202020204" charset="0"/>
                <a:ea typeface="Helvetica Neue"/>
                <a:cs typeface="Arial" panose="020B0604020202020204" pitchFamily="34" charset="0"/>
                <a:sym typeface="Helvetica Neue"/>
              </a:rPr>
              <a:t>Obese policyholders have </a:t>
            </a:r>
            <a:r>
              <a:rPr lang="en-SG" sz="1600" b="1" dirty="0">
                <a:latin typeface="Helvetica Neue" panose="020B0604020202020204" charset="0"/>
                <a:ea typeface="Helvetica Neue"/>
                <a:cs typeface="Arial" panose="020B0604020202020204" pitchFamily="34" charset="0"/>
                <a:sym typeface="Helvetica Neue"/>
              </a:rPr>
              <a:t>higher needs</a:t>
            </a:r>
            <a:r>
              <a:rPr lang="en-SG" sz="1600" dirty="0">
                <a:latin typeface="Helvetica Neue" panose="020B0604020202020204" charset="0"/>
                <a:ea typeface="Helvetica Neue"/>
                <a:cs typeface="Arial" panose="020B0604020202020204" pitchFamily="34" charset="0"/>
                <a:sym typeface="Helvetica Neue"/>
              </a:rPr>
              <a:t> and </a:t>
            </a:r>
            <a:r>
              <a:rPr lang="en-SG" sz="1600" b="1" dirty="0">
                <a:latin typeface="Helvetica Neue" panose="020B0604020202020204" charset="0"/>
                <a:ea typeface="Helvetica Neue"/>
                <a:cs typeface="Arial" panose="020B0604020202020204" pitchFamily="34" charset="0"/>
                <a:sym typeface="Helvetica Neue"/>
              </a:rPr>
              <a:t>demands for medical care</a:t>
            </a:r>
          </a:p>
          <a:p>
            <a:pPr marL="914400" lvl="1" indent="-33020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Arial" panose="020B0604020202020204" pitchFamily="34" charset="0"/>
              <a:buChar char="•"/>
            </a:pPr>
            <a:r>
              <a:rPr lang="en-SG" sz="1600" b="1" dirty="0">
                <a:latin typeface="Helvetica Neue" panose="020B0604020202020204" charset="0"/>
                <a:ea typeface="Helvetica Neue"/>
                <a:cs typeface="Arial" panose="020B0604020202020204" pitchFamily="34" charset="0"/>
                <a:sym typeface="Helvetica Neue"/>
              </a:rPr>
              <a:t>More claims </a:t>
            </a:r>
            <a:r>
              <a:rPr lang="en-SG" sz="1600" dirty="0">
                <a:latin typeface="Helvetica Neue" panose="020B0604020202020204" charset="0"/>
                <a:ea typeface="Helvetica Neue"/>
                <a:cs typeface="Arial" panose="020B0604020202020204" pitchFamily="34" charset="0"/>
                <a:sym typeface="Helvetica Neue"/>
              </a:rPr>
              <a:t>lead to </a:t>
            </a:r>
            <a:r>
              <a:rPr lang="en-SG" sz="1600" b="1" dirty="0">
                <a:latin typeface="Helvetica Neue" panose="020B0604020202020204" charset="0"/>
                <a:ea typeface="Helvetica Neue"/>
                <a:cs typeface="Arial" panose="020B0604020202020204" pitchFamily="34" charset="0"/>
                <a:sym typeface="Helvetica Neue"/>
              </a:rPr>
              <a:t>lesser profit</a:t>
            </a:r>
          </a:p>
          <a:p>
            <a:pPr marL="914400" lvl="1" indent="-33020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Arial" panose="020B0604020202020204" pitchFamily="34" charset="0"/>
              <a:buChar char="•"/>
            </a:pPr>
            <a:endParaRPr lang="en-SG" sz="1600" b="1" dirty="0">
              <a:latin typeface="Helvetica Neue" panose="020B0604020202020204" charset="0"/>
              <a:ea typeface="Helvetica Neue"/>
              <a:cs typeface="Arial" panose="020B0604020202020204" pitchFamily="34" charset="0"/>
              <a:sym typeface="Helvetica Neue"/>
            </a:endParaRPr>
          </a:p>
          <a:p>
            <a:pPr marL="914400" lvl="1" indent="-33020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Helvetica Neue"/>
              <a:buChar char="○"/>
            </a:pPr>
            <a:endParaRPr lang="en-SG" sz="1600" b="1" dirty="0">
              <a:latin typeface="Helvetica Neue" panose="020B0604020202020204" charset="0"/>
              <a:ea typeface="Helvetica Neue"/>
              <a:cs typeface="Arial" panose="020B0604020202020204" pitchFamily="34" charset="0"/>
              <a:sym typeface="Helvetica Neue"/>
            </a:endParaRPr>
          </a:p>
          <a:p>
            <a:pPr marL="914400" lvl="1" indent="-33020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Helvetica Neue"/>
              <a:buChar char="○"/>
            </a:pPr>
            <a:endParaRPr lang="en-SG" dirty="0">
              <a:latin typeface="+mj-lt"/>
              <a:ea typeface="Helvetica Neue"/>
              <a:cs typeface="Helvetica Neue"/>
              <a:sym typeface="Helvetica Neue"/>
            </a:endParaRPr>
          </a:p>
          <a:p>
            <a:pPr marL="914400" lvl="1" indent="-33020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Helvetica Neue"/>
              <a:buChar char="○"/>
            </a:pP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0" marR="0" lvl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tabLst/>
              <a:defRPr/>
            </a:pPr>
            <a:endParaRPr lang="en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302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  <a:tabLst/>
              <a:defRPr/>
            </a:pPr>
            <a:endParaRPr lang="en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0" marR="0" lvl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tabLst/>
              <a:defRPr/>
            </a:pP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Data </a:t>
            </a:r>
            <a:endParaRPr sz="2400" b="1"/>
          </a:p>
        </p:txBody>
      </p:sp>
      <p:sp>
        <p:nvSpPr>
          <p:cNvPr id="142" name="Google Shape;142;p20"/>
          <p:cNvSpPr txBox="1"/>
          <p:nvPr/>
        </p:nvSpPr>
        <p:spPr>
          <a:xfrm>
            <a:off x="308550" y="1014300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 panose="020B0604020202020204" charset="0"/>
              </a:rPr>
              <a:t>Data is taken from </a:t>
            </a:r>
            <a:r>
              <a:rPr lang="en-SG" sz="1600" b="1" u="sng" dirty="0">
                <a:solidFill>
                  <a:schemeClr val="bg2"/>
                </a:solidFill>
                <a:latin typeface="Helvetica Neue" panose="020B060402020202020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https://www.kaggle.com/datasets/simranjain17/insurance</a:t>
            </a:r>
            <a:r>
              <a:rPr lang="en-SG" sz="1600" b="1" u="sng" dirty="0">
                <a:solidFill>
                  <a:schemeClr val="bg2"/>
                </a:solidFill>
                <a:latin typeface="Helvetica Neue" panose="020B0604020202020204" charset="0"/>
              </a:rPr>
              <a:t> </a:t>
            </a:r>
            <a:r>
              <a:rPr lang="en-SG" sz="1600" dirty="0">
                <a:latin typeface="Helvetica Neue" panose="020B0604020202020204" charset="0"/>
              </a:rPr>
              <a:t>(insurance.csv)</a:t>
            </a:r>
          </a:p>
          <a:p>
            <a:pPr marL="4191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endParaRPr lang="en-SG" sz="1600" u="sng" dirty="0">
              <a:latin typeface="Helvetica Neue" panose="020B0604020202020204" charset="0"/>
            </a:endParaRPr>
          </a:p>
          <a:p>
            <a:pPr marL="4191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 panose="020B0604020202020204" charset="0"/>
              </a:rPr>
              <a:t>Age from 18 to 64 years old</a:t>
            </a:r>
          </a:p>
          <a:p>
            <a:pPr marL="4191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endParaRPr lang="en-SG" sz="1600" dirty="0">
              <a:latin typeface="Helvetica Neue" panose="020B0604020202020204" charset="0"/>
            </a:endParaRPr>
          </a:p>
          <a:p>
            <a:pPr marL="4191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 panose="020B0604020202020204" charset="0"/>
              </a:rPr>
              <a:t>BMI from 15.96 to 53.13</a:t>
            </a:r>
          </a:p>
          <a:p>
            <a:pPr marL="4191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endParaRPr lang="en-SG" sz="1600" dirty="0">
              <a:latin typeface="Helvetica Neue" panose="020B0604020202020204" charset="0"/>
            </a:endParaRPr>
          </a:p>
          <a:p>
            <a:pPr marL="4191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 panose="020B0604020202020204" charset="0"/>
              </a:rPr>
              <a:t>Premium charges from $1.12k to $63.8k</a:t>
            </a:r>
          </a:p>
          <a:p>
            <a:pPr marL="4191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endParaRPr lang="en-SG" sz="1600" dirty="0">
              <a:latin typeface="Helvetica Neue" panose="020B0604020202020204" charset="0"/>
            </a:endParaRPr>
          </a:p>
          <a:p>
            <a:pPr marL="4191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 panose="020B0604020202020204" charset="0"/>
              </a:rPr>
              <a:t>There is a total of 1,338 policyholders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endParaRPr sz="1500" u="sng" dirty="0"/>
          </a:p>
        </p:txBody>
      </p:sp>
    </p:spTree>
    <p:extLst>
      <p:ext uri="{BB962C8B-B14F-4D97-AF65-F5344CB8AC3E}">
        <p14:creationId xmlns:p14="http://schemas.microsoft.com/office/powerpoint/2010/main" val="3491494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Data </a:t>
            </a:r>
            <a:endParaRPr sz="2400" b="1"/>
          </a:p>
        </p:txBody>
      </p:sp>
      <p:sp>
        <p:nvSpPr>
          <p:cNvPr id="142" name="Google Shape;142;p20"/>
          <p:cNvSpPr txBox="1"/>
          <p:nvPr/>
        </p:nvSpPr>
        <p:spPr>
          <a:xfrm>
            <a:off x="308550" y="1014300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 panose="020B0604020202020204" charset="0"/>
              </a:rPr>
              <a:t>Steps taken to collect and consolidate the data</a:t>
            </a:r>
          </a:p>
          <a:p>
            <a:pPr marL="4191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endParaRPr lang="en-SG" sz="1600" dirty="0">
              <a:latin typeface="Helvetica Neue" panose="020B0604020202020204" charset="0"/>
            </a:endParaRPr>
          </a:p>
          <a:p>
            <a:pPr marL="4191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endParaRPr lang="en-SG" sz="1600" dirty="0">
              <a:latin typeface="Helvetica Neue" panose="020B0604020202020204" charset="0"/>
            </a:endParaRPr>
          </a:p>
          <a:p>
            <a:pPr marL="4191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endParaRPr lang="en-SG" sz="1600" dirty="0">
              <a:latin typeface="Helvetica Neue" panose="020B0604020202020204" charset="0"/>
            </a:endParaRPr>
          </a:p>
          <a:p>
            <a:pPr marL="4191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endParaRPr lang="en-SG" sz="1600" dirty="0">
              <a:latin typeface="Helvetica Neue" panose="020B0604020202020204" charset="0"/>
            </a:endParaRPr>
          </a:p>
          <a:p>
            <a:pPr marL="4191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endParaRPr lang="en-SG" sz="1600" dirty="0">
              <a:latin typeface="Helvetica Neue" panose="020B0604020202020204" charset="0"/>
            </a:endParaRPr>
          </a:p>
          <a:p>
            <a:pPr marL="419100" indent="-285750">
              <a:lnSpc>
                <a:spcPct val="115000"/>
              </a:lnSpc>
              <a:buSzPts val="15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 panose="020B0604020202020204" charset="0"/>
              </a:rPr>
              <a:t>This is how the data appears before any cleaning</a:t>
            </a:r>
          </a:p>
          <a:p>
            <a:pPr marL="1333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</a:pPr>
            <a:endParaRPr lang="en-SG" sz="1600" dirty="0">
              <a:latin typeface="Helvetica Neue" panose="020B0604020202020204" charset="0"/>
            </a:endParaRPr>
          </a:p>
          <a:p>
            <a:pPr marL="1333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</a:pPr>
            <a:endParaRPr sz="1600" u="sng" dirty="0">
              <a:latin typeface="Helvetica Neue" panose="020B060402020202020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698863-E5AF-8508-DCC7-F0B423333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071" y="2571750"/>
            <a:ext cx="3808911" cy="2124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0057D8-D01C-78BA-758D-18D67D09B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2071" y="1173904"/>
            <a:ext cx="3234122" cy="80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366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Exploratory Data Analysis (1/2)</a:t>
            </a:r>
            <a:endParaRPr sz="2400" b="1"/>
          </a:p>
        </p:txBody>
      </p:sp>
      <p:sp>
        <p:nvSpPr>
          <p:cNvPr id="148" name="Google Shape;148;p21"/>
          <p:cNvSpPr txBox="1"/>
          <p:nvPr/>
        </p:nvSpPr>
        <p:spPr>
          <a:xfrm>
            <a:off x="450845" y="446211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28575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 panose="020B0604020202020204" charset="0"/>
              </a:rPr>
              <a:t>Check for duplicated rows and remove if any</a:t>
            </a:r>
          </a:p>
          <a:p>
            <a:pPr marL="419100" lvl="0" indent="-28575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 panose="020B0604020202020204" charset="0"/>
              </a:rPr>
              <a:t>Check for correct data type and any missing values</a:t>
            </a:r>
          </a:p>
          <a:p>
            <a:pPr marL="419100" lvl="0" indent="-28575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 panose="020B0604020202020204" charset="0"/>
              </a:rPr>
              <a:t>Check for any negatives values</a:t>
            </a:r>
          </a:p>
          <a:p>
            <a:pPr marL="419100" lvl="0" indent="-28575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 panose="020B0604020202020204" charset="0"/>
              </a:rPr>
              <a:t>Rename charges column to </a:t>
            </a:r>
            <a:r>
              <a:rPr lang="en-SG" sz="1600" dirty="0" err="1">
                <a:latin typeface="Helvetica Neue" panose="020B0604020202020204" charset="0"/>
              </a:rPr>
              <a:t>premium_charges</a:t>
            </a:r>
            <a:endParaRPr lang="en-SG" sz="1600" dirty="0">
              <a:latin typeface="Helvetica Neue" panose="020B0604020202020204" charset="0"/>
            </a:endParaRPr>
          </a:p>
          <a:p>
            <a:pPr marL="457200" lvl="0" indent="0" algn="l" rtl="0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SG" sz="1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783F5F-B949-79D4-998D-80345F4F3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076" y="833517"/>
            <a:ext cx="1834480" cy="18149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125D19-8355-AF2E-03B5-BBE451B05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4076" y="3005659"/>
            <a:ext cx="1834480" cy="18966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4F8DA1-E90C-4AF1-2E56-B782DB996B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09" y="4275344"/>
            <a:ext cx="3396192" cy="5793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09AC49-7DEB-A168-E2C4-9E1B4EBE44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509" y="3824984"/>
            <a:ext cx="4553580" cy="3416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798C54-3156-D3F4-0BF0-83922895E3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509" y="2415951"/>
            <a:ext cx="2816255" cy="13003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Exploratory Data Analysis (1/2)</a:t>
            </a:r>
            <a:endParaRPr sz="2400" b="1"/>
          </a:p>
        </p:txBody>
      </p:sp>
      <p:sp>
        <p:nvSpPr>
          <p:cNvPr id="148" name="Google Shape;148;p21"/>
          <p:cNvSpPr txBox="1"/>
          <p:nvPr/>
        </p:nvSpPr>
        <p:spPr>
          <a:xfrm>
            <a:off x="308550" y="1014300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2857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r>
              <a:rPr lang="en-SG" sz="1600" dirty="0" err="1">
                <a:latin typeface="Helvetica Neue" panose="020B0604020202020204" charset="0"/>
              </a:rPr>
              <a:t>age_group</a:t>
            </a:r>
            <a:r>
              <a:rPr lang="en-SG" sz="1600" dirty="0">
                <a:latin typeface="Helvetica Neue" panose="020B0604020202020204" charset="0"/>
              </a:rPr>
              <a:t> and </a:t>
            </a:r>
            <a:r>
              <a:rPr lang="en-SG" sz="1600" dirty="0" err="1">
                <a:latin typeface="Helvetica Neue" panose="020B0604020202020204" charset="0"/>
              </a:rPr>
              <a:t>bmi_group</a:t>
            </a:r>
            <a:r>
              <a:rPr lang="en-SG" sz="1600" dirty="0">
                <a:latin typeface="Helvetica Neue" panose="020B0604020202020204" charset="0"/>
              </a:rPr>
              <a:t> was created from </a:t>
            </a:r>
            <a:r>
              <a:rPr lang="en-SG" sz="1600" dirty="0" err="1">
                <a:latin typeface="Helvetica Neue" panose="020B0604020202020204" charset="0"/>
              </a:rPr>
              <a:t>bmi</a:t>
            </a:r>
            <a:r>
              <a:rPr lang="en-SG" sz="1600" dirty="0">
                <a:latin typeface="Helvetica Neue" panose="020B0604020202020204" charset="0"/>
              </a:rPr>
              <a:t> and age columns</a:t>
            </a:r>
          </a:p>
          <a:p>
            <a:pPr marL="419100" indent="-285750">
              <a:lnSpc>
                <a:spcPct val="125000"/>
              </a:lnSpc>
              <a:buSzPts val="1500"/>
              <a:buFont typeface="Arial" panose="020B0604020202020204" pitchFamily="34" charset="0"/>
              <a:buChar char="•"/>
            </a:pPr>
            <a:r>
              <a:rPr lang="en-SG" sz="1600" dirty="0" err="1">
                <a:solidFill>
                  <a:srgbClr val="FF0000"/>
                </a:solidFill>
                <a:latin typeface="Helvetica Neue" panose="020B0604020202020204" charset="0"/>
              </a:rPr>
              <a:t>bmi</a:t>
            </a:r>
            <a:r>
              <a:rPr lang="en-SG" sz="1600" dirty="0">
                <a:solidFill>
                  <a:srgbClr val="FF0000"/>
                </a:solidFill>
                <a:latin typeface="Helvetica Neue" panose="020B0604020202020204" charset="0"/>
              </a:rPr>
              <a:t> and </a:t>
            </a:r>
            <a:r>
              <a:rPr lang="en-SG" sz="1600" dirty="0" err="1">
                <a:solidFill>
                  <a:srgbClr val="FF0000"/>
                </a:solidFill>
                <a:latin typeface="Helvetica Neue" panose="020B0604020202020204" charset="0"/>
              </a:rPr>
              <a:t>premium_charges</a:t>
            </a:r>
            <a:r>
              <a:rPr lang="en-SG" sz="1600" dirty="0">
                <a:solidFill>
                  <a:srgbClr val="FF0000"/>
                </a:solidFill>
                <a:latin typeface="Helvetica Neue" panose="020B0604020202020204" charset="0"/>
              </a:rPr>
              <a:t> was converted to 2 decimal place</a:t>
            </a:r>
          </a:p>
          <a:p>
            <a:pPr marL="419100" indent="-285750">
              <a:lnSpc>
                <a:spcPct val="125000"/>
              </a:lnSpc>
              <a:buSzPts val="15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 panose="020B0604020202020204" charset="0"/>
              </a:rPr>
              <a:t>After data is cleaned, saved to insurance_cleansed.xlsx format</a:t>
            </a:r>
          </a:p>
          <a:p>
            <a:pPr marL="457200" lvl="0" indent="-3238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endParaRPr lang="en-SG" sz="1500" dirty="0"/>
          </a:p>
          <a:p>
            <a:pPr marL="457200" lvl="0" indent="-3238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endParaRPr lang="en-SG" sz="1500" dirty="0"/>
          </a:p>
          <a:p>
            <a:pPr marL="457200" lvl="0" indent="-3238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endParaRPr lang="en-SG" sz="1500" dirty="0"/>
          </a:p>
          <a:p>
            <a:pPr marL="457200" lvl="0" indent="0" algn="l" rtl="0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sz="15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C89532-E93E-DB30-C148-CAE851076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621" y="2076630"/>
            <a:ext cx="2099043" cy="16061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B76BDAE-4FEE-979C-065C-A3DF4D7F4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621" y="780358"/>
            <a:ext cx="1982532" cy="11494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E6F924-D0DC-1FD9-03D7-206ADE0120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1919" y="3779245"/>
            <a:ext cx="3186745" cy="3440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A69194-73FC-AB0E-57B8-27104CFBB1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832" y="2199902"/>
            <a:ext cx="4762500" cy="25336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0EEB1A4-E121-1F3E-2004-B25D70887F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0030" y="4268995"/>
            <a:ext cx="300990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784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>
            <a:spLocks noGrp="1"/>
          </p:cNvSpPr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Exploratory Data Analysis (2/2)</a:t>
            </a:r>
            <a:endParaRPr sz="2400" b="1"/>
          </a:p>
        </p:txBody>
      </p:sp>
      <p:sp>
        <p:nvSpPr>
          <p:cNvPr id="154" name="Google Shape;154;p22"/>
          <p:cNvSpPr txBox="1"/>
          <p:nvPr/>
        </p:nvSpPr>
        <p:spPr>
          <a:xfrm>
            <a:off x="251000" y="1007905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Char char="●"/>
            </a:pP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30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Char char="●"/>
            </a:pP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30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Char char="●"/>
            </a:pP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12750" lvl="0" indent="-2857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/>
                <a:ea typeface="Helvetica Neue"/>
                <a:cs typeface="Helvetica Neue"/>
                <a:sym typeface="Helvetica Neue"/>
              </a:rPr>
              <a:t>Average Premium Charges / No. Of Policyholders</a:t>
            </a:r>
          </a:p>
          <a:p>
            <a:pPr marL="127000" lvl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</a:pPr>
            <a:r>
              <a:rPr lang="en-SG" sz="1600" dirty="0">
                <a:latin typeface="Helvetica Neue"/>
                <a:ea typeface="Helvetica Neue"/>
                <a:cs typeface="Helvetica Neue"/>
                <a:sym typeface="Helvetica Neue"/>
              </a:rPr>
              <a:t>     plotted against BMI Group and Smoker Category </a:t>
            </a:r>
          </a:p>
          <a:p>
            <a:pPr marL="127000" lvl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</a:pP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12750" indent="-285750">
              <a:lnSpc>
                <a:spcPct val="125000"/>
              </a:lnSpc>
              <a:buSzPts val="1600"/>
              <a:buFont typeface="Arial" panose="020B0604020202020204" pitchFamily="34" charset="0"/>
              <a:buChar char="•"/>
            </a:pPr>
            <a:r>
              <a:rPr lang="en-SG" sz="1600" dirty="0">
                <a:solidFill>
                  <a:schemeClr val="tx1">
                    <a:lumMod val="50000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There is a total of 721 obese policyholders</a:t>
            </a:r>
          </a:p>
          <a:p>
            <a:pPr marL="127000" lvl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</a:pP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12750" lvl="0" indent="-2857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</a:pPr>
            <a:r>
              <a:rPr lang="en-SG" sz="1600" dirty="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BMI increases, charges increases as well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EBE286-8B95-98DD-3A42-BB37DFBF4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006" y="677808"/>
            <a:ext cx="3472787" cy="419364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DEEBFFD-33C2-8642-6064-A0A8142D4C48}"/>
              </a:ext>
            </a:extLst>
          </p:cNvPr>
          <p:cNvSpPr/>
          <p:nvPr/>
        </p:nvSpPr>
        <p:spPr>
          <a:xfrm>
            <a:off x="5184007" y="2973399"/>
            <a:ext cx="2738662" cy="13747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04324A-BA2A-1317-CC90-020C672B9C4E}"/>
              </a:ext>
            </a:extLst>
          </p:cNvPr>
          <p:cNvSpPr/>
          <p:nvPr/>
        </p:nvSpPr>
        <p:spPr>
          <a:xfrm>
            <a:off x="7278295" y="1201528"/>
            <a:ext cx="644373" cy="1457924"/>
          </a:xfrm>
          <a:prstGeom prst="rect">
            <a:avLst/>
          </a:prstGeom>
          <a:noFill/>
          <a:ln w="38100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A67FF-7453-A158-99C5-F91D5C62A16E}"/>
              </a:ext>
            </a:extLst>
          </p:cNvPr>
          <p:cNvSpPr txBox="1"/>
          <p:nvPr/>
        </p:nvSpPr>
        <p:spPr>
          <a:xfrm>
            <a:off x="5883000" y="1380461"/>
            <a:ext cx="1775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b="1" dirty="0">
                <a:solidFill>
                  <a:schemeClr val="tx1">
                    <a:lumMod val="50000"/>
                  </a:schemeClr>
                </a:solidFill>
                <a:latin typeface="Helvetica Neue" panose="020B0604020202020204" charset="0"/>
              </a:rPr>
              <a:t>147 Obese Smokers</a:t>
            </a:r>
          </a:p>
          <a:p>
            <a:r>
              <a:rPr lang="en-SG" sz="900" b="1" dirty="0">
                <a:solidFill>
                  <a:schemeClr val="tx1">
                    <a:lumMod val="50000"/>
                  </a:schemeClr>
                </a:solidFill>
                <a:latin typeface="Helvetica Neue" panose="020B0604020202020204" charset="0"/>
              </a:rPr>
              <a:t>574 Obese Non-smokers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>
            <a:spLocks noGrp="1"/>
          </p:cNvSpPr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/>
              <a:t>Exploratory Data Analysis (2/2)</a:t>
            </a:r>
            <a:endParaRPr sz="2400" b="1" dirty="0"/>
          </a:p>
        </p:txBody>
      </p:sp>
      <p:sp>
        <p:nvSpPr>
          <p:cNvPr id="154" name="Google Shape;154;p22"/>
          <p:cNvSpPr txBox="1"/>
          <p:nvPr/>
        </p:nvSpPr>
        <p:spPr>
          <a:xfrm>
            <a:off x="671912" y="3164781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2750" lvl="0" indent="-2857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/>
                <a:ea typeface="Helvetica Neue"/>
                <a:cs typeface="Helvetica Neue"/>
                <a:sym typeface="Helvetica Neue"/>
              </a:rPr>
              <a:t>Premium Charges plotted against Gender</a:t>
            </a:r>
          </a:p>
          <a:p>
            <a:pPr marL="412750" lvl="0" indent="-2857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/>
                <a:ea typeface="Helvetica Neue"/>
                <a:cs typeface="Helvetica Neue"/>
                <a:sym typeface="Helvetica Neue"/>
              </a:rPr>
              <a:t>Males are charged more (as compared to Females)</a:t>
            </a:r>
          </a:p>
          <a:p>
            <a:pPr marL="127000" lvl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</a:pP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30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Char char="●"/>
            </a:pP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30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Char char="●"/>
            </a:pP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30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Char char="●"/>
            </a:pPr>
            <a:endParaRPr sz="16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384523-8C98-68A6-75CF-9CDAE33AC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12" y="1125324"/>
            <a:ext cx="5837593" cy="169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912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>
            <a:spLocks noGrp="1"/>
          </p:cNvSpPr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 b="1" dirty="0"/>
              <a:t>Exploratory Data Analysis (2/2)</a:t>
            </a:r>
            <a:endParaRPr sz="2400" b="1" dirty="0"/>
          </a:p>
        </p:txBody>
      </p:sp>
      <p:sp>
        <p:nvSpPr>
          <p:cNvPr id="172" name="Google Shape;172;p25"/>
          <p:cNvSpPr txBox="1"/>
          <p:nvPr/>
        </p:nvSpPr>
        <p:spPr>
          <a:xfrm>
            <a:off x="-108706" y="1674629"/>
            <a:ext cx="4821384" cy="35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69950" lvl="1" indent="-285750" algn="l" rtl="0">
              <a:spcAft>
                <a:spcPts val="600"/>
              </a:spcAft>
              <a:buSzPts val="16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/>
                <a:ea typeface="Helvetica Neue"/>
                <a:cs typeface="Helvetica Neue"/>
                <a:sym typeface="Helvetica Neue"/>
              </a:rPr>
              <a:t>Premium Charges plotted against BMI and </a:t>
            </a:r>
          </a:p>
          <a:p>
            <a:pPr marL="584200" lvl="1" algn="l" rtl="0">
              <a:spcAft>
                <a:spcPts val="600"/>
              </a:spcAft>
              <a:buSzPts val="1600"/>
            </a:pPr>
            <a:r>
              <a:rPr lang="en-SG" sz="1600" dirty="0">
                <a:latin typeface="Helvetica Neue"/>
                <a:ea typeface="Helvetica Neue"/>
                <a:cs typeface="Helvetica Neue"/>
                <a:sym typeface="Helvetica Neue"/>
              </a:rPr>
              <a:t>     Smoker category</a:t>
            </a:r>
          </a:p>
          <a:p>
            <a:pPr marL="869950" lvl="1" indent="-28575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/>
                <a:ea typeface="Helvetica Neue"/>
                <a:cs typeface="Helvetica Neue"/>
                <a:sym typeface="Helvetica Neue"/>
              </a:rPr>
              <a:t>Charges increases with BMI</a:t>
            </a:r>
          </a:p>
          <a:p>
            <a:pPr marL="869950" lvl="1" indent="-28575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/>
                <a:ea typeface="Helvetica Neue"/>
                <a:cs typeface="Helvetica Neue"/>
                <a:sym typeface="Helvetica Neue"/>
              </a:rPr>
              <a:t>Smokers are charged more (as compared to non-smokers)</a:t>
            </a:r>
          </a:p>
          <a:p>
            <a:pPr marL="914400" lvl="1" indent="-33020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Helvetica Neue"/>
              <a:buChar char="○"/>
            </a:pP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84200" lvl="1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</a:pP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30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Char char="●"/>
            </a:pPr>
            <a:endParaRPr sz="16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F8AA85-1ABE-48A3-94BF-271D00DD5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678" y="671412"/>
            <a:ext cx="2998755" cy="447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088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>
            <a:spLocks noGrp="1"/>
          </p:cNvSpPr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 b="1" dirty="0"/>
              <a:t>Exploratory Data Analysis (2/2)</a:t>
            </a:r>
            <a:endParaRPr sz="2400" b="1" dirty="0"/>
          </a:p>
        </p:txBody>
      </p:sp>
      <p:sp>
        <p:nvSpPr>
          <p:cNvPr id="172" name="Google Shape;172;p25"/>
          <p:cNvSpPr txBox="1"/>
          <p:nvPr/>
        </p:nvSpPr>
        <p:spPr>
          <a:xfrm>
            <a:off x="0" y="1656218"/>
            <a:ext cx="4572000" cy="35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69950" lvl="1" indent="-285750" algn="l" rtl="0">
              <a:spcAft>
                <a:spcPts val="600"/>
              </a:spcAft>
              <a:buSzPts val="16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/>
                <a:ea typeface="Helvetica Neue"/>
                <a:cs typeface="Helvetica Neue"/>
                <a:sym typeface="Helvetica Neue"/>
              </a:rPr>
              <a:t>Premium Charges plotted against Age </a:t>
            </a:r>
          </a:p>
          <a:p>
            <a:pPr marL="584200" lvl="1" algn="l" rtl="0">
              <a:spcAft>
                <a:spcPts val="600"/>
              </a:spcAft>
              <a:buSzPts val="1600"/>
            </a:pPr>
            <a:r>
              <a:rPr lang="en-SG" sz="1600" dirty="0">
                <a:latin typeface="Helvetica Neue"/>
                <a:ea typeface="Helvetica Neue"/>
                <a:cs typeface="Helvetica Neue"/>
                <a:sym typeface="Helvetica Neue"/>
              </a:rPr>
              <a:t>     and Age Group</a:t>
            </a:r>
          </a:p>
          <a:p>
            <a:pPr marL="869950" lvl="1" indent="-28575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/>
                <a:ea typeface="Helvetica Neue"/>
                <a:cs typeface="Helvetica Neue"/>
                <a:sym typeface="Helvetica Neue"/>
              </a:rPr>
              <a:t>Charges increases with Age</a:t>
            </a:r>
          </a:p>
          <a:p>
            <a:pPr marL="869950" lvl="1" indent="-28575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/>
                <a:ea typeface="Helvetica Neue"/>
                <a:cs typeface="Helvetica Neue"/>
                <a:sym typeface="Helvetica Neue"/>
              </a:rPr>
              <a:t>Seniors are charged more (as compared to young adults and middle aged)</a:t>
            </a:r>
          </a:p>
          <a:p>
            <a:pPr marL="914400" lvl="1" indent="-33020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Helvetica Neue"/>
              <a:buChar char="○"/>
            </a:pP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84200" lvl="1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</a:pP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30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Char char="●"/>
            </a:pPr>
            <a:endParaRPr sz="16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B4E5CC-CADF-7C18-22A2-9831116F0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665018"/>
            <a:ext cx="3187844" cy="447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183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>
            <a:spLocks noGrp="1"/>
          </p:cNvSpPr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Dashboard</a:t>
            </a:r>
            <a:endParaRPr sz="2400" b="1"/>
          </a:p>
        </p:txBody>
      </p:sp>
      <p:sp>
        <p:nvSpPr>
          <p:cNvPr id="160" name="Google Shape;160;p23"/>
          <p:cNvSpPr txBox="1"/>
          <p:nvPr/>
        </p:nvSpPr>
        <p:spPr>
          <a:xfrm>
            <a:off x="312941" y="2068566"/>
            <a:ext cx="8730300" cy="1511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 b="1" dirty="0">
                <a:solidFill>
                  <a:schemeClr val="bg2"/>
                </a:solidFill>
                <a:latin typeface="Helvetica Neue" panose="020B060402020202020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https://public.tableau.com/app/profile/kaijie.ng/viz/CaseStudyInsurance/InsurancePremiumsDashboard?publish=yes</a:t>
            </a:r>
            <a:endParaRPr lang="en-SG" sz="1800" b="1" dirty="0">
              <a:solidFill>
                <a:schemeClr val="bg2"/>
              </a:solidFill>
              <a:latin typeface="Helvetica Neue" panose="020B060402020202020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SG" sz="1800" b="1" dirty="0">
              <a:solidFill>
                <a:schemeClr val="bg2"/>
              </a:solidFill>
              <a:latin typeface="Helvetica Neue" panose="020B060402020202020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1" dirty="0">
              <a:latin typeface="Helvetica Neue" panose="020B0604020202020204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>
            <a:spLocks noGrp="1"/>
          </p:cNvSpPr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Strategy: Key Recommendations</a:t>
            </a:r>
            <a:endParaRPr sz="2400" b="1"/>
          </a:p>
        </p:txBody>
      </p:sp>
      <p:sp>
        <p:nvSpPr>
          <p:cNvPr id="172" name="Google Shape;172;p25"/>
          <p:cNvSpPr txBox="1"/>
          <p:nvPr/>
        </p:nvSpPr>
        <p:spPr>
          <a:xfrm>
            <a:off x="0" y="3082104"/>
            <a:ext cx="9131349" cy="1790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84200" lvl="1" rtl="0">
              <a:lnSpc>
                <a:spcPct val="125000"/>
              </a:lnSpc>
              <a:spcBef>
                <a:spcPts val="1000"/>
              </a:spcBef>
              <a:spcAft>
                <a:spcPts val="500"/>
              </a:spcAft>
              <a:buSzPts val="1600"/>
            </a:pPr>
            <a:r>
              <a:rPr lang="en-SG" sz="1500" b="1" dirty="0">
                <a:latin typeface="Helvetica Neue"/>
                <a:ea typeface="Helvetica Neue"/>
                <a:cs typeface="Helvetica Neue"/>
                <a:sym typeface="Helvetica Neue"/>
              </a:rPr>
              <a:t>Who are the main customers?</a:t>
            </a:r>
          </a:p>
          <a:p>
            <a:pPr marL="869950" lvl="1" indent="-285750">
              <a:lnSpc>
                <a:spcPct val="125000"/>
              </a:lnSpc>
              <a:spcBef>
                <a:spcPts val="1000"/>
              </a:spcBef>
              <a:spcAft>
                <a:spcPts val="500"/>
              </a:spcAft>
              <a:buSzPts val="1600"/>
              <a:buFont typeface="Arial" panose="020B0604020202020204" pitchFamily="34" charset="0"/>
              <a:buChar char="•"/>
            </a:pPr>
            <a:r>
              <a:rPr lang="en-SG" sz="1500" dirty="0">
                <a:latin typeface="Helvetica Neue"/>
                <a:ea typeface="Helvetica Neue"/>
                <a:cs typeface="Helvetica Neue"/>
                <a:sym typeface="Helvetica Neue"/>
              </a:rPr>
              <a:t>Obese policyholders paid the highest Average Premium Charges across all different regions</a:t>
            </a:r>
          </a:p>
          <a:p>
            <a:pPr marL="869950" lvl="1" indent="-285750" algn="l" rtl="0">
              <a:lnSpc>
                <a:spcPct val="125000"/>
              </a:lnSpc>
              <a:spcBef>
                <a:spcPts val="1000"/>
              </a:spcBef>
              <a:spcAft>
                <a:spcPts val="500"/>
              </a:spcAft>
              <a:buSzPts val="1600"/>
              <a:buFont typeface="Arial" panose="020B0604020202020204" pitchFamily="34" charset="0"/>
              <a:buChar char="•"/>
            </a:pPr>
            <a:r>
              <a:rPr lang="en-SG" sz="1500" dirty="0">
                <a:latin typeface="Helvetica Neue"/>
                <a:ea typeface="Helvetica Neue"/>
                <a:cs typeface="Helvetica Neue"/>
                <a:sym typeface="Helvetica Neue"/>
              </a:rPr>
              <a:t>We will further analyse on the 3 different types of Age Group (Young Adults, Middle Age &amp; Seniors) </a:t>
            </a:r>
          </a:p>
          <a:p>
            <a:pPr marL="584200" lvl="1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</a:pP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869950" lvl="1" indent="-28575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Arial" panose="020B0604020202020204" pitchFamily="34" charset="0"/>
              <a:buChar char="•"/>
            </a:pP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3020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Helvetica Neue"/>
              <a:buChar char="○"/>
            </a:pP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84200" lvl="1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</a:pP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30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Char char="●"/>
            </a:pPr>
            <a:endParaRPr sz="16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543588-6D53-75A9-7812-B9AF3FA49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551" y="651720"/>
            <a:ext cx="5247969" cy="266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577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EC193E9-DAF7-4B9D-06C1-504345F9C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23" y="666206"/>
            <a:ext cx="7094498" cy="3011130"/>
          </a:xfrm>
          <a:prstGeom prst="rect">
            <a:avLst/>
          </a:prstGeom>
        </p:spPr>
      </p:pic>
      <p:sp>
        <p:nvSpPr>
          <p:cNvPr id="171" name="Google Shape;171;p25"/>
          <p:cNvSpPr txBox="1">
            <a:spLocks noGrp="1"/>
          </p:cNvSpPr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Strategy: Key Recommendations</a:t>
            </a:r>
            <a:endParaRPr sz="2400" b="1"/>
          </a:p>
        </p:txBody>
      </p:sp>
      <p:sp>
        <p:nvSpPr>
          <p:cNvPr id="172" name="Google Shape;172;p25"/>
          <p:cNvSpPr txBox="1"/>
          <p:nvPr/>
        </p:nvSpPr>
        <p:spPr>
          <a:xfrm>
            <a:off x="-377270" y="2963373"/>
            <a:ext cx="9508620" cy="181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69950" marR="0" lvl="1" indent="-28575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  <a:tabLst/>
              <a:defRPr/>
            </a:pPr>
            <a:endParaRPr kumimoji="0" lang="en-SG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869950" marR="0" lvl="1" indent="-28575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50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  <a:tabLst/>
              <a:defRPr/>
            </a:pPr>
            <a:r>
              <a:rPr kumimoji="0" lang="en-SG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Obese </a:t>
            </a:r>
            <a:r>
              <a:rPr lang="en-SG" sz="1500" dirty="0">
                <a:latin typeface="Helvetica Neue"/>
                <a:ea typeface="Helvetica Neue"/>
                <a:cs typeface="Helvetica Neue"/>
                <a:sym typeface="Helvetica Neue"/>
              </a:rPr>
              <a:t>policyholders</a:t>
            </a:r>
            <a:r>
              <a:rPr kumimoji="0" lang="en-SG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 paid the highest </a:t>
            </a:r>
            <a:r>
              <a:rPr lang="en-SG" sz="1500" dirty="0">
                <a:latin typeface="Helvetica Neue"/>
                <a:ea typeface="Helvetica Neue"/>
                <a:cs typeface="Helvetica Neue"/>
                <a:sym typeface="Helvetica Neue"/>
              </a:rPr>
              <a:t>Average Premium Charges </a:t>
            </a:r>
            <a:r>
              <a:rPr kumimoji="0" lang="en-SG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across all different regions</a:t>
            </a:r>
          </a:p>
          <a:p>
            <a:pPr marL="869950" marR="0" lvl="1" indent="-28575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50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  <a:tabLst/>
              <a:defRPr/>
            </a:pPr>
            <a:r>
              <a:rPr lang="en-SG" sz="1500" dirty="0">
                <a:solidFill>
                  <a:schemeClr val="tx1">
                    <a:lumMod val="50000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There is a total of 61 obese smokers and 228 obese non-smokers policyholders in Young Adults group</a:t>
            </a:r>
            <a:endParaRPr kumimoji="0" lang="en-SG" sz="15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869950" marR="0" lvl="1" indent="-28575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  <a:tabLst/>
              <a:defRPr/>
            </a:pPr>
            <a:endParaRPr kumimoji="0" lang="en-SG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marR="0" lvl="1" indent="-3302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Helvetica Neue"/>
              <a:buChar char="○"/>
              <a:tabLst/>
              <a:defRPr/>
            </a:pPr>
            <a:endParaRPr kumimoji="0" lang="en-SG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84200" marR="0" lvl="1" indent="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endParaRPr kumimoji="0" lang="en-SG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302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BFD2FA-D6E7-FEB1-F03A-62A183CCE07D}"/>
              </a:ext>
            </a:extLst>
          </p:cNvPr>
          <p:cNvSpPr/>
          <p:nvPr/>
        </p:nvSpPr>
        <p:spPr>
          <a:xfrm>
            <a:off x="4444102" y="970713"/>
            <a:ext cx="920794" cy="17904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chemeClr val="bg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6F1858-84F7-D22F-24A4-7DDB8F7D0EE2}"/>
              </a:ext>
            </a:extLst>
          </p:cNvPr>
          <p:cNvSpPr/>
          <p:nvPr/>
        </p:nvSpPr>
        <p:spPr>
          <a:xfrm>
            <a:off x="6664397" y="1758462"/>
            <a:ext cx="479581" cy="1873163"/>
          </a:xfrm>
          <a:prstGeom prst="rect">
            <a:avLst/>
          </a:prstGeom>
          <a:noFill/>
          <a:ln w="38100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474B56-B8C6-8785-887E-B4154FF84274}"/>
              </a:ext>
            </a:extLst>
          </p:cNvPr>
          <p:cNvSpPr txBox="1"/>
          <p:nvPr/>
        </p:nvSpPr>
        <p:spPr>
          <a:xfrm>
            <a:off x="6289997" y="903745"/>
            <a:ext cx="147415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SG" sz="1600" b="1" dirty="0">
                <a:solidFill>
                  <a:schemeClr val="bg2"/>
                </a:solidFill>
                <a:latin typeface="Helvetica Neue" panose="020B0604020202020204" charset="0"/>
              </a:rPr>
              <a:t>Young Adults  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EB9CD8FC-833A-5B0F-EDF6-A566E2564387}"/>
              </a:ext>
            </a:extLst>
          </p:cNvPr>
          <p:cNvSpPr/>
          <p:nvPr/>
        </p:nvSpPr>
        <p:spPr>
          <a:xfrm rot="16200000">
            <a:off x="5803466" y="684172"/>
            <a:ext cx="105510" cy="760190"/>
          </a:xfrm>
          <a:prstGeom prst="downArrow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1AB36-A220-EA63-1325-304DD5607B55}"/>
              </a:ext>
            </a:extLst>
          </p:cNvPr>
          <p:cNvSpPr txBox="1"/>
          <p:nvPr/>
        </p:nvSpPr>
        <p:spPr>
          <a:xfrm>
            <a:off x="4888901" y="1755181"/>
            <a:ext cx="1775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sz="700" b="1" dirty="0">
                <a:solidFill>
                  <a:schemeClr val="tx1">
                    <a:lumMod val="50000"/>
                  </a:schemeClr>
                </a:solidFill>
                <a:latin typeface="Helvetica Neue" panose="020B0604020202020204" charset="0"/>
              </a:rPr>
              <a:t>61 Obese Smoker</a:t>
            </a:r>
          </a:p>
          <a:p>
            <a:pPr algn="r"/>
            <a:r>
              <a:rPr lang="en-SG" sz="700" b="1" dirty="0">
                <a:solidFill>
                  <a:schemeClr val="tx1">
                    <a:lumMod val="50000"/>
                  </a:schemeClr>
                </a:solidFill>
                <a:latin typeface="Helvetica Neue" panose="020B0604020202020204" charset="0"/>
              </a:rPr>
              <a:t>228 Obese Non-smokers</a:t>
            </a:r>
          </a:p>
        </p:txBody>
      </p:sp>
    </p:spTree>
    <p:extLst>
      <p:ext uri="{BB962C8B-B14F-4D97-AF65-F5344CB8AC3E}">
        <p14:creationId xmlns:p14="http://schemas.microsoft.com/office/powerpoint/2010/main" val="2337719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864D37D-10E4-D7A1-056D-E3B5B8A0D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24" y="666206"/>
            <a:ext cx="7094498" cy="3011130"/>
          </a:xfrm>
          <a:prstGeom prst="rect">
            <a:avLst/>
          </a:prstGeom>
        </p:spPr>
      </p:pic>
      <p:sp>
        <p:nvSpPr>
          <p:cNvPr id="171" name="Google Shape;171;p25"/>
          <p:cNvSpPr txBox="1">
            <a:spLocks noGrp="1"/>
          </p:cNvSpPr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Strategy: Key Recommendations</a:t>
            </a:r>
            <a:endParaRPr sz="2400" b="1"/>
          </a:p>
        </p:txBody>
      </p:sp>
      <p:sp>
        <p:nvSpPr>
          <p:cNvPr id="172" name="Google Shape;172;p25"/>
          <p:cNvSpPr txBox="1"/>
          <p:nvPr/>
        </p:nvSpPr>
        <p:spPr>
          <a:xfrm>
            <a:off x="-294212" y="3448805"/>
            <a:ext cx="9578958" cy="1642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69950" marR="0" lvl="1" indent="-285750" algn="l" defTabSz="914400" rtl="0" eaLnBrk="1" fontAlgn="auto" latinLnBrk="0" hangingPunct="1">
              <a:spcBef>
                <a:spcPts val="1000"/>
              </a:spcBef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  <a:tabLst/>
              <a:defRPr/>
            </a:pPr>
            <a:r>
              <a:rPr kumimoji="0" lang="en-SG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Obese </a:t>
            </a:r>
            <a:r>
              <a:rPr lang="en-SG" dirty="0">
                <a:solidFill>
                  <a:srgbClr val="7030A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policyholders</a:t>
            </a:r>
            <a:r>
              <a:rPr kumimoji="0" lang="en-SG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 paid the highest </a:t>
            </a:r>
            <a:r>
              <a:rPr lang="en-SG" dirty="0">
                <a:solidFill>
                  <a:srgbClr val="7030A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Premium Charges </a:t>
            </a:r>
            <a:r>
              <a:rPr kumimoji="0" lang="en-SG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across all different regions except Southwest Underweight policyholders</a:t>
            </a:r>
          </a:p>
          <a:p>
            <a:pPr marL="869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  <a:tabLst/>
              <a:defRPr/>
            </a:pPr>
            <a:r>
              <a:rPr lang="en-SG" dirty="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There is only a total of 5 underweight policyholders in Middle Age group</a:t>
            </a:r>
          </a:p>
          <a:p>
            <a:pPr marL="869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  <a:tabLst/>
              <a:defRPr/>
            </a:pPr>
            <a:r>
              <a:rPr kumimoji="0" lang="en-SG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There is a total of </a:t>
            </a:r>
            <a:r>
              <a:rPr lang="en-SG" dirty="0">
                <a:solidFill>
                  <a:schemeClr val="tx1">
                    <a:lumMod val="50000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r>
              <a:rPr kumimoji="0" lang="en-SG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 obese smokers and 238</a:t>
            </a:r>
            <a:r>
              <a:rPr lang="en-SG" dirty="0">
                <a:solidFill>
                  <a:schemeClr val="tx1">
                    <a:lumMod val="50000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non-smokers policyholders</a:t>
            </a:r>
            <a:r>
              <a:rPr kumimoji="0" lang="en-SG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 in Middle Age group</a:t>
            </a:r>
          </a:p>
          <a:p>
            <a:pPr marL="914400" marR="0" lvl="1" indent="-3302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Helvetica Neue"/>
              <a:buChar char="○"/>
              <a:tabLst/>
              <a:defRPr/>
            </a:pPr>
            <a:endParaRPr kumimoji="0" lang="en-SG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84200" marR="0" lvl="1" indent="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endParaRPr kumimoji="0" lang="en-SG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302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DB3FD5-D7B3-1983-3BF2-AF70B1EF10B4}"/>
              </a:ext>
            </a:extLst>
          </p:cNvPr>
          <p:cNvSpPr/>
          <p:nvPr/>
        </p:nvSpPr>
        <p:spPr>
          <a:xfrm>
            <a:off x="891724" y="1515474"/>
            <a:ext cx="3322189" cy="60107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F25F46-4FFD-1D2E-30DA-1F81435DE40B}"/>
              </a:ext>
            </a:extLst>
          </p:cNvPr>
          <p:cNvSpPr/>
          <p:nvPr/>
        </p:nvSpPr>
        <p:spPr>
          <a:xfrm>
            <a:off x="5307357" y="2410902"/>
            <a:ext cx="530973" cy="12322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58FE04-62C5-88A6-4572-1FA3509C9CEB}"/>
              </a:ext>
            </a:extLst>
          </p:cNvPr>
          <p:cNvSpPr txBox="1"/>
          <p:nvPr/>
        </p:nvSpPr>
        <p:spPr>
          <a:xfrm>
            <a:off x="6347613" y="896558"/>
            <a:ext cx="12595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>
                <a:solidFill>
                  <a:schemeClr val="bg2"/>
                </a:solidFill>
                <a:latin typeface="Helvetica Neue" panose="020B0604020202020204" charset="0"/>
              </a:rPr>
              <a:t>Middle Age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CAAA10-7460-6452-A16E-20DCF802479F}"/>
              </a:ext>
            </a:extLst>
          </p:cNvPr>
          <p:cNvSpPr txBox="1"/>
          <p:nvPr/>
        </p:nvSpPr>
        <p:spPr>
          <a:xfrm>
            <a:off x="2535078" y="2376680"/>
            <a:ext cx="276588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sz="700" b="1" dirty="0">
                <a:solidFill>
                  <a:srgbClr val="FF0000"/>
                </a:solidFill>
                <a:latin typeface="Helvetica Neue" panose="020B0604020202020204" charset="0"/>
              </a:rPr>
              <a:t>Total 5 Underweight in Southwest</a:t>
            </a:r>
          </a:p>
          <a:p>
            <a:pPr algn="r"/>
            <a:r>
              <a:rPr lang="en-SG" sz="700" b="1" dirty="0">
                <a:solidFill>
                  <a:srgbClr val="FF0000"/>
                </a:solidFill>
                <a:latin typeface="Helvetica Neue" panose="020B0604020202020204" charset="0"/>
              </a:rPr>
              <a:t>1 Underweight smoker</a:t>
            </a:r>
          </a:p>
          <a:p>
            <a:pPr algn="r"/>
            <a:r>
              <a:rPr lang="en-SG" sz="700" b="1" dirty="0">
                <a:solidFill>
                  <a:srgbClr val="FF0000"/>
                </a:solidFill>
                <a:latin typeface="Helvetica Neue" panose="020B0604020202020204" charset="0"/>
              </a:rPr>
              <a:t>4 Underweight non-smokers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9864EB-D8D9-BE32-4418-07D34386F45F}"/>
              </a:ext>
            </a:extLst>
          </p:cNvPr>
          <p:cNvSpPr txBox="1"/>
          <p:nvPr/>
        </p:nvSpPr>
        <p:spPr>
          <a:xfrm>
            <a:off x="5173972" y="1737159"/>
            <a:ext cx="14776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sz="700" b="1" dirty="0">
                <a:solidFill>
                  <a:schemeClr val="tx1">
                    <a:lumMod val="50000"/>
                  </a:schemeClr>
                </a:solidFill>
                <a:latin typeface="Helvetica Neue" panose="020B0604020202020204" charset="0"/>
              </a:rPr>
              <a:t>61 Obese Smoker</a:t>
            </a:r>
          </a:p>
          <a:p>
            <a:pPr algn="r"/>
            <a:r>
              <a:rPr lang="en-SG" sz="700" b="1" dirty="0">
                <a:solidFill>
                  <a:schemeClr val="tx1">
                    <a:lumMod val="50000"/>
                  </a:schemeClr>
                </a:solidFill>
                <a:latin typeface="Helvetica Neue" panose="020B0604020202020204" charset="0"/>
              </a:rPr>
              <a:t>238 Obese Non-smokers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A1B6DF-8841-2774-E5BA-7F08112E62BE}"/>
              </a:ext>
            </a:extLst>
          </p:cNvPr>
          <p:cNvSpPr/>
          <p:nvPr/>
        </p:nvSpPr>
        <p:spPr>
          <a:xfrm>
            <a:off x="4444169" y="964832"/>
            <a:ext cx="920794" cy="17904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chemeClr val="bg2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E04B3A36-5F40-128A-00DB-2B02F36682D9}"/>
              </a:ext>
            </a:extLst>
          </p:cNvPr>
          <p:cNvSpPr/>
          <p:nvPr/>
        </p:nvSpPr>
        <p:spPr>
          <a:xfrm rot="16200000">
            <a:off x="5803533" y="671897"/>
            <a:ext cx="105510" cy="760190"/>
          </a:xfrm>
          <a:prstGeom prst="downArrow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>
              <a:solidFill>
                <a:schemeClr val="bg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74F8D-C4D6-18EC-4B1D-EBC57640D6B7}"/>
              </a:ext>
            </a:extLst>
          </p:cNvPr>
          <p:cNvSpPr/>
          <p:nvPr/>
        </p:nvSpPr>
        <p:spPr>
          <a:xfrm>
            <a:off x="6651609" y="1745674"/>
            <a:ext cx="479581" cy="1892346"/>
          </a:xfrm>
          <a:prstGeom prst="rect">
            <a:avLst/>
          </a:prstGeom>
          <a:noFill/>
          <a:ln w="38100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088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54D95D4-FA72-146F-5273-CC64E5F4F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22" y="671413"/>
            <a:ext cx="7094497" cy="3005923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171" name="Google Shape;171;p25"/>
          <p:cNvSpPr txBox="1">
            <a:spLocks noGrp="1"/>
          </p:cNvSpPr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Strategy: Key Recommendations</a:t>
            </a:r>
            <a:endParaRPr sz="2400" b="1"/>
          </a:p>
        </p:txBody>
      </p:sp>
      <p:sp>
        <p:nvSpPr>
          <p:cNvPr id="172" name="Google Shape;172;p25"/>
          <p:cNvSpPr txBox="1"/>
          <p:nvPr/>
        </p:nvSpPr>
        <p:spPr>
          <a:xfrm>
            <a:off x="-111970" y="3518398"/>
            <a:ext cx="9367940" cy="1784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84200" marR="0" lvl="1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tabLst/>
              <a:defRPr/>
            </a:pPr>
            <a:r>
              <a:rPr lang="en-SG" b="1" dirty="0">
                <a:latin typeface="Helvetica Neue"/>
                <a:ea typeface="Helvetica Neue"/>
                <a:cs typeface="Helvetica Neue"/>
                <a:sym typeface="Helvetica Neue"/>
              </a:rPr>
              <a:t>Why Middle Age group in Southwest Underweight group paid the highest Average Premium Charges ?</a:t>
            </a:r>
          </a:p>
          <a:p>
            <a:pPr marL="869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200"/>
              </a:spcBef>
              <a:spcAft>
                <a:spcPts val="50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  <a:tabLst/>
              <a:defRPr/>
            </a:pPr>
            <a:r>
              <a:rPr kumimoji="0" lang="en-SG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There is only 1 policyholder in Middle Age group in Southwest that is underweight</a:t>
            </a:r>
          </a:p>
          <a:p>
            <a:pPr marL="869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200"/>
              </a:spcBef>
              <a:spcAft>
                <a:spcPts val="50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  <a:tabLst/>
              <a:defRPr/>
            </a:pPr>
            <a:r>
              <a:rPr lang="en-SG" dirty="0">
                <a:solidFill>
                  <a:schemeClr val="tx1">
                    <a:lumMod val="50000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Policyholder is a smoker therefore charged at a higher premium</a:t>
            </a:r>
            <a:endParaRPr kumimoji="0" lang="en-SG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marR="0" lvl="1" indent="-3302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Helvetica Neue"/>
              <a:buChar char="○"/>
              <a:tabLst/>
              <a:defRPr/>
            </a:pPr>
            <a:endParaRPr kumimoji="0" lang="en-SG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84200" marR="0" lvl="1" indent="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endParaRPr kumimoji="0" lang="en-SG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302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318A29-7A02-D20D-F88B-989A33B2B9ED}"/>
              </a:ext>
            </a:extLst>
          </p:cNvPr>
          <p:cNvSpPr/>
          <p:nvPr/>
        </p:nvSpPr>
        <p:spPr>
          <a:xfrm>
            <a:off x="5032396" y="1316319"/>
            <a:ext cx="2122943" cy="1075187"/>
          </a:xfrm>
          <a:prstGeom prst="rect">
            <a:avLst/>
          </a:prstGeom>
          <a:noFill/>
          <a:ln w="3810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964BC5-44D5-7861-3129-180F5FB06521}"/>
              </a:ext>
            </a:extLst>
          </p:cNvPr>
          <p:cNvSpPr/>
          <p:nvPr/>
        </p:nvSpPr>
        <p:spPr>
          <a:xfrm>
            <a:off x="4449895" y="3359460"/>
            <a:ext cx="3536324" cy="338555"/>
          </a:xfrm>
          <a:prstGeom prst="rect">
            <a:avLst/>
          </a:prstGeom>
          <a:noFill/>
          <a:ln w="3810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782C98-84D3-49A2-7399-3ADC52B58C16}"/>
              </a:ext>
            </a:extLst>
          </p:cNvPr>
          <p:cNvSpPr/>
          <p:nvPr/>
        </p:nvSpPr>
        <p:spPr>
          <a:xfrm>
            <a:off x="916997" y="1462807"/>
            <a:ext cx="3296916" cy="521231"/>
          </a:xfrm>
          <a:prstGeom prst="rect">
            <a:avLst/>
          </a:prstGeom>
          <a:noFill/>
          <a:ln w="3810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98E969-A539-D7FA-0E8B-29337AB0C2C5}"/>
              </a:ext>
            </a:extLst>
          </p:cNvPr>
          <p:cNvSpPr txBox="1"/>
          <p:nvPr/>
        </p:nvSpPr>
        <p:spPr>
          <a:xfrm>
            <a:off x="6374381" y="898296"/>
            <a:ext cx="12595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>
                <a:solidFill>
                  <a:schemeClr val="bg2"/>
                </a:solidFill>
                <a:latin typeface="Helvetica Neue" panose="020B0604020202020204" charset="0"/>
              </a:rPr>
              <a:t>Middle Age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22CC71-E364-8B5B-241F-59D0B776EEFC}"/>
              </a:ext>
            </a:extLst>
          </p:cNvPr>
          <p:cNvSpPr/>
          <p:nvPr/>
        </p:nvSpPr>
        <p:spPr>
          <a:xfrm>
            <a:off x="4449895" y="951557"/>
            <a:ext cx="920794" cy="17904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chemeClr val="bg2"/>
              </a:solidFill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321335C1-C41B-BC9B-C794-D8C5D30A289E}"/>
              </a:ext>
            </a:extLst>
          </p:cNvPr>
          <p:cNvSpPr/>
          <p:nvPr/>
        </p:nvSpPr>
        <p:spPr>
          <a:xfrm rot="16200000">
            <a:off x="5834784" y="688803"/>
            <a:ext cx="105510" cy="760190"/>
          </a:xfrm>
          <a:prstGeom prst="downArrow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545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37CFACE-A4DE-588A-7599-14463BDBA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05" y="660025"/>
            <a:ext cx="7113914" cy="3037990"/>
          </a:xfrm>
          <a:prstGeom prst="rect">
            <a:avLst/>
          </a:prstGeom>
        </p:spPr>
      </p:pic>
      <p:sp>
        <p:nvSpPr>
          <p:cNvPr id="171" name="Google Shape;171;p25"/>
          <p:cNvSpPr txBox="1">
            <a:spLocks noGrp="1"/>
          </p:cNvSpPr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Strategy: Key Recommendations</a:t>
            </a:r>
            <a:endParaRPr sz="2400" b="1"/>
          </a:p>
        </p:txBody>
      </p:sp>
      <p:sp>
        <p:nvSpPr>
          <p:cNvPr id="172" name="Google Shape;172;p25"/>
          <p:cNvSpPr txBox="1"/>
          <p:nvPr/>
        </p:nvSpPr>
        <p:spPr>
          <a:xfrm>
            <a:off x="57550" y="3073691"/>
            <a:ext cx="8926729" cy="1835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69950" marR="0" lvl="1" indent="-28575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  <a:tabLst/>
              <a:defRPr/>
            </a:pPr>
            <a:endParaRPr kumimoji="0" lang="en-SG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869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50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  <a:tabLst/>
              <a:defRPr/>
            </a:pPr>
            <a:r>
              <a:rPr kumimoji="0" lang="en-SG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Obese </a:t>
            </a:r>
            <a:r>
              <a:rPr lang="en-SG" sz="1500" dirty="0">
                <a:latin typeface="Helvetica Neue"/>
                <a:ea typeface="Helvetica Neue"/>
                <a:cs typeface="Helvetica Neue"/>
                <a:sym typeface="Helvetica Neue"/>
              </a:rPr>
              <a:t>policyholders</a:t>
            </a:r>
            <a:r>
              <a:rPr kumimoji="0" lang="en-SG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 paid the highest </a:t>
            </a:r>
            <a:r>
              <a:rPr lang="en-SG" sz="1500" dirty="0">
                <a:latin typeface="Helvetica Neue"/>
                <a:ea typeface="Helvetica Neue"/>
                <a:cs typeface="Helvetica Neue"/>
                <a:sym typeface="Helvetica Neue"/>
              </a:rPr>
              <a:t>Average Premium Charges </a:t>
            </a:r>
            <a:r>
              <a:rPr kumimoji="0" lang="en-SG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across all different regions</a:t>
            </a:r>
          </a:p>
          <a:p>
            <a:pPr marL="869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50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  <a:tabLst/>
              <a:defRPr/>
            </a:pPr>
            <a:r>
              <a:rPr lang="en-SG" sz="1500" dirty="0">
                <a:solidFill>
                  <a:schemeClr val="tx1">
                    <a:lumMod val="50000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There is a total of 25 obese smokers and 108 non-smokers policyholders in Seniors group</a:t>
            </a:r>
            <a:endParaRPr kumimoji="0" lang="en-SG" sz="15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marR="0" lvl="1" indent="-3302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Helvetica Neue"/>
              <a:buChar char="○"/>
              <a:tabLst/>
              <a:defRPr/>
            </a:pPr>
            <a:endParaRPr kumimoji="0" lang="en-SG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84200" marR="0" lvl="1" indent="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endParaRPr kumimoji="0" lang="en-SG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302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47F6D0-AE55-AF7D-54FD-AF3F55A82251}"/>
              </a:ext>
            </a:extLst>
          </p:cNvPr>
          <p:cNvSpPr/>
          <p:nvPr/>
        </p:nvSpPr>
        <p:spPr>
          <a:xfrm>
            <a:off x="6671619" y="1764856"/>
            <a:ext cx="479581" cy="1886201"/>
          </a:xfrm>
          <a:prstGeom prst="rect">
            <a:avLst/>
          </a:prstGeom>
          <a:noFill/>
          <a:ln w="38100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B52C12-747A-30E9-EC52-8DFD911FE0E6}"/>
              </a:ext>
            </a:extLst>
          </p:cNvPr>
          <p:cNvSpPr txBox="1"/>
          <p:nvPr/>
        </p:nvSpPr>
        <p:spPr>
          <a:xfrm>
            <a:off x="6331214" y="909045"/>
            <a:ext cx="1160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>
                <a:solidFill>
                  <a:schemeClr val="bg2"/>
                </a:solidFill>
                <a:latin typeface="Helvetica Neue" panose="020B0604020202020204" charset="0"/>
              </a:rPr>
              <a:t>Seniors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93D79B-C8BF-12B1-043D-747F14CD3CA9}"/>
              </a:ext>
            </a:extLst>
          </p:cNvPr>
          <p:cNvSpPr txBox="1"/>
          <p:nvPr/>
        </p:nvSpPr>
        <p:spPr>
          <a:xfrm>
            <a:off x="5193982" y="1732153"/>
            <a:ext cx="14776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sz="700" b="1" dirty="0">
                <a:solidFill>
                  <a:schemeClr val="tx1">
                    <a:lumMod val="50000"/>
                  </a:schemeClr>
                </a:solidFill>
                <a:latin typeface="Helvetica Neue" panose="020B0604020202020204" charset="0"/>
              </a:rPr>
              <a:t>25 Obese Smoker</a:t>
            </a:r>
          </a:p>
          <a:p>
            <a:pPr algn="r"/>
            <a:r>
              <a:rPr lang="en-SG" sz="700" b="1" dirty="0">
                <a:solidFill>
                  <a:schemeClr val="tx1">
                    <a:lumMod val="50000"/>
                  </a:schemeClr>
                </a:solidFill>
                <a:latin typeface="Helvetica Neue" panose="020B0604020202020204" charset="0"/>
              </a:rPr>
              <a:t>108 Obese Non-smokers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754AEE-C552-5897-14A4-8E7FD1CA809A}"/>
              </a:ext>
            </a:extLst>
          </p:cNvPr>
          <p:cNvSpPr/>
          <p:nvPr/>
        </p:nvSpPr>
        <p:spPr>
          <a:xfrm>
            <a:off x="4447198" y="979880"/>
            <a:ext cx="920794" cy="17904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chemeClr val="bg2"/>
              </a:solidFill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919EDFA0-25DA-D6AF-FE0C-B356A42084E1}"/>
              </a:ext>
            </a:extLst>
          </p:cNvPr>
          <p:cNvSpPr/>
          <p:nvPr/>
        </p:nvSpPr>
        <p:spPr>
          <a:xfrm rot="16200000">
            <a:off x="5806511" y="685156"/>
            <a:ext cx="105510" cy="760190"/>
          </a:xfrm>
          <a:prstGeom prst="downArrow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101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>
            <a:spLocks noGrp="1"/>
          </p:cNvSpPr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Strategy: Key Recommendations</a:t>
            </a:r>
            <a:endParaRPr sz="2400" b="1"/>
          </a:p>
        </p:txBody>
      </p:sp>
      <p:sp>
        <p:nvSpPr>
          <p:cNvPr id="172" name="Google Shape;172;p25"/>
          <p:cNvSpPr txBox="1"/>
          <p:nvPr/>
        </p:nvSpPr>
        <p:spPr>
          <a:xfrm>
            <a:off x="308550" y="1014300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84200" lvl="1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</a:pPr>
            <a:r>
              <a:rPr lang="en-SG" sz="1600" b="1" dirty="0">
                <a:latin typeface="Helvetica Neue"/>
                <a:ea typeface="Helvetica Neue"/>
                <a:cs typeface="Helvetica Neue"/>
                <a:sym typeface="Helvetica Neue"/>
              </a:rPr>
              <a:t>To reduce obese people from claiming, the company can help them to lose weight while maintaining customer retention rate at the same time</a:t>
            </a:r>
          </a:p>
          <a:p>
            <a:pPr marL="869950" lvl="1" indent="-28575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/>
                <a:ea typeface="Helvetica Neue"/>
                <a:cs typeface="Helvetica Neue"/>
                <a:sym typeface="Helvetica Neue"/>
              </a:rPr>
              <a:t>The recommendation is to collaborate with government to help promote health awareness </a:t>
            </a:r>
          </a:p>
          <a:p>
            <a:pPr marL="869950" lvl="1" indent="-28575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/>
                <a:ea typeface="Helvetica Neue"/>
                <a:cs typeface="Helvetica Neue"/>
                <a:sym typeface="Helvetica Neue"/>
              </a:rPr>
              <a:t>Study customer's lifestyle habits, and reward them with food/entertainment vouchers if they hit a certain quota of exercising</a:t>
            </a: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869950" lvl="1" indent="-28575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Arial" panose="020B0604020202020204" pitchFamily="34" charset="0"/>
              <a:buChar char="•"/>
            </a:pP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3020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Helvetica Neue"/>
              <a:buChar char="○"/>
            </a:pP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84200" lvl="1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</a:pP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30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Char char="●"/>
            </a:pPr>
            <a:endParaRPr sz="16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051210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>
            <a:spLocks noGrp="1"/>
          </p:cNvSpPr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Strategy: Key Recommendations</a:t>
            </a:r>
            <a:endParaRPr sz="2400" b="1"/>
          </a:p>
        </p:txBody>
      </p:sp>
      <p:sp>
        <p:nvSpPr>
          <p:cNvPr id="172" name="Google Shape;172;p25"/>
          <p:cNvSpPr txBox="1"/>
          <p:nvPr/>
        </p:nvSpPr>
        <p:spPr>
          <a:xfrm>
            <a:off x="308550" y="1014300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84200" lvl="1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</a:pPr>
            <a:r>
              <a:rPr lang="en-US" sz="1600" b="1" dirty="0">
                <a:latin typeface="Helvetica Neue"/>
                <a:ea typeface="Helvetica Neue"/>
                <a:cs typeface="Helvetica Neue"/>
                <a:sym typeface="Helvetica Neue"/>
              </a:rPr>
              <a:t>To attract new customers, the company can implement a new Insurance Enhance Benefit Package (</a:t>
            </a:r>
            <a:r>
              <a:rPr lang="en-US" sz="1600" b="1" dirty="0" err="1">
                <a:latin typeface="Helvetica Neue"/>
                <a:ea typeface="Helvetica Neue"/>
                <a:cs typeface="Helvetica Neue"/>
                <a:sym typeface="Helvetica Neue"/>
              </a:rPr>
              <a:t>IEBP</a:t>
            </a:r>
            <a:r>
              <a:rPr lang="en-US" sz="1600" b="1" dirty="0">
                <a:latin typeface="Helvetica Neue"/>
                <a:ea typeface="Helvetica Neue"/>
                <a:cs typeface="Helvetica Neue"/>
                <a:sym typeface="Helvetica Neue"/>
              </a:rPr>
              <a:t>), mainly targeting obese people</a:t>
            </a:r>
          </a:p>
          <a:p>
            <a:pPr marL="869950" lvl="1" indent="-28575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Arial" panose="020B0604020202020204" pitchFamily="34" charset="0"/>
              <a:buChar char="•"/>
            </a:pPr>
            <a:r>
              <a:rPr lang="en-SG" sz="1600" dirty="0">
                <a:latin typeface="Helvetica Neue"/>
                <a:ea typeface="Helvetica Neue"/>
                <a:cs typeface="Helvetica Neue"/>
                <a:sym typeface="Helvetica Neue"/>
              </a:rPr>
              <a:t>Rate of return (</a:t>
            </a:r>
            <a:r>
              <a:rPr lang="en-SG" sz="1600" dirty="0" err="1">
                <a:latin typeface="Helvetica Neue"/>
                <a:ea typeface="Helvetica Neue"/>
                <a:cs typeface="Helvetica Neue"/>
                <a:sym typeface="Helvetica Neue"/>
              </a:rPr>
              <a:t>ROR</a:t>
            </a:r>
            <a:r>
              <a:rPr lang="en-SG" sz="1600" dirty="0">
                <a:latin typeface="Helvetica Neue"/>
                <a:ea typeface="Helvetica Neue"/>
                <a:cs typeface="Helvetica Neue"/>
                <a:sym typeface="Helvetica Neue"/>
              </a:rPr>
              <a:t>) for normal BMI 5%</a:t>
            </a:r>
          </a:p>
          <a:p>
            <a:pPr marL="869950" lvl="1" indent="-28575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Arial" panose="020B0604020202020204" pitchFamily="34" charset="0"/>
              <a:buChar char="•"/>
            </a:pPr>
            <a:r>
              <a:rPr lang="en-US" sz="1600" dirty="0" err="1">
                <a:latin typeface="Helvetica Neue"/>
                <a:ea typeface="Helvetica Neue"/>
                <a:cs typeface="Helvetica Neue"/>
                <a:sym typeface="Helvetica Neue"/>
              </a:rPr>
              <a:t>IEBP</a:t>
            </a:r>
            <a:r>
              <a:rPr lang="en-US" sz="1600" dirty="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latin typeface="Helvetica Neue"/>
                <a:ea typeface="Helvetica Neue"/>
                <a:cs typeface="Helvetica Neue"/>
                <a:sym typeface="Helvetica Neue"/>
              </a:rPr>
              <a:t>ROR</a:t>
            </a:r>
            <a:r>
              <a:rPr lang="en-US" sz="1600" dirty="0">
                <a:latin typeface="Helvetica Neue"/>
                <a:ea typeface="Helvetica Neue"/>
                <a:cs typeface="Helvetica Neue"/>
                <a:sym typeface="Helvetica Neue"/>
              </a:rPr>
              <a:t> 3% only, but if their weight hits optimal weight, the package will auto-enhance to 7% for a certain period </a:t>
            </a: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84200" lvl="1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</a:pPr>
            <a:endParaRPr lang="en-SG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30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Char char="●"/>
            </a:pPr>
            <a:endParaRPr sz="16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66276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>
            <a:spLocks noGrp="1"/>
          </p:cNvSpPr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Conclusion</a:t>
            </a:r>
            <a:endParaRPr sz="2400" b="1"/>
          </a:p>
        </p:txBody>
      </p:sp>
      <p:sp>
        <p:nvSpPr>
          <p:cNvPr id="178" name="Google Shape;178;p26"/>
          <p:cNvSpPr txBox="1"/>
          <p:nvPr/>
        </p:nvSpPr>
        <p:spPr>
          <a:xfrm>
            <a:off x="244606" y="602700"/>
            <a:ext cx="8526900" cy="427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Data analysis has identified </a:t>
            </a:r>
            <a:r>
              <a:rPr lang="en-US" sz="1600" b="1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obese policyholders paid the highest across all different regions </a:t>
            </a:r>
            <a:r>
              <a:rPr lang="en-US" sz="1600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as main customers, but there could be changes with more data in the future</a:t>
            </a:r>
            <a:br>
              <a:rPr lang="en-US" sz="1600" dirty="0">
                <a:solidFill>
                  <a:srgbClr val="0E101A"/>
                </a:solidFill>
                <a:effectLst/>
                <a:latin typeface="Helvetica Neue" panose="020B0604020202020204" charset="0"/>
              </a:rPr>
            </a:br>
            <a:endParaRPr lang="en-US" sz="1600" dirty="0">
              <a:solidFill>
                <a:srgbClr val="0E101A"/>
              </a:solidFill>
              <a:effectLst/>
              <a:latin typeface="Helvetica Neue" panose="020B0604020202020204" charset="0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To </a:t>
            </a:r>
            <a:r>
              <a:rPr lang="en-US" sz="1600" b="1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reduce more claims </a:t>
            </a:r>
            <a:r>
              <a:rPr lang="en-US" sz="1600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from the obese group, the company can </a:t>
            </a:r>
            <a:r>
              <a:rPr lang="en-US" sz="1600" b="1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collaborate with  government to help promote health awareness</a:t>
            </a:r>
            <a:br>
              <a:rPr lang="en-US" sz="1600" b="1" dirty="0">
                <a:solidFill>
                  <a:srgbClr val="0E101A"/>
                </a:solidFill>
                <a:effectLst/>
                <a:latin typeface="Helvetica Neue" panose="020B0604020202020204" charset="0"/>
              </a:rPr>
            </a:br>
            <a:endParaRPr lang="en-US" sz="1600" dirty="0">
              <a:solidFill>
                <a:srgbClr val="0E101A"/>
              </a:solidFill>
              <a:effectLst/>
              <a:latin typeface="Helvetica Neue" panose="020B0604020202020204" charset="0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Study customers’ lifestyle habits </a:t>
            </a:r>
            <a:r>
              <a:rPr lang="en-US" sz="1600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and </a:t>
            </a:r>
            <a:r>
              <a:rPr lang="en-US" sz="1600" b="1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reward them with food/entertainment vouchers </a:t>
            </a:r>
            <a:r>
              <a:rPr lang="en-US" sz="1600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if they hit a certain exercise quota. This helps in </a:t>
            </a:r>
            <a:r>
              <a:rPr lang="en-US" sz="1600" b="1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customer retention</a:t>
            </a:r>
            <a:br>
              <a:rPr lang="en-US" sz="1600" b="1" dirty="0">
                <a:solidFill>
                  <a:srgbClr val="0E101A"/>
                </a:solidFill>
                <a:effectLst/>
                <a:latin typeface="Helvetica Neue" panose="020B0604020202020204" charset="0"/>
              </a:rPr>
            </a:br>
            <a:endParaRPr lang="en-US" sz="1600" dirty="0">
              <a:solidFill>
                <a:srgbClr val="0E101A"/>
              </a:solidFill>
              <a:effectLst/>
              <a:latin typeface="Helvetica Neue" panose="020B0604020202020204" charset="0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To </a:t>
            </a:r>
            <a:r>
              <a:rPr lang="en-US" sz="1600" b="1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attract new customers</a:t>
            </a:r>
            <a:r>
              <a:rPr lang="en-US" sz="1600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, the company can implement a new Insurance Enhance Benefit Package </a:t>
            </a:r>
            <a:r>
              <a:rPr lang="en-US" sz="1600" b="1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targeting obese customers</a:t>
            </a:r>
            <a:br>
              <a:rPr lang="en-US" sz="1600" b="1" dirty="0">
                <a:solidFill>
                  <a:srgbClr val="0E101A"/>
                </a:solidFill>
                <a:effectLst/>
                <a:latin typeface="Helvetica Neue" panose="020B0604020202020204" charset="0"/>
              </a:rPr>
            </a:br>
            <a:endParaRPr lang="en-US" sz="1600" dirty="0">
              <a:solidFill>
                <a:srgbClr val="0E101A"/>
              </a:solidFill>
              <a:effectLst/>
              <a:latin typeface="Helvetica Neue" panose="020B0604020202020204" charset="0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However, </a:t>
            </a:r>
            <a:r>
              <a:rPr lang="en-US" sz="1600" b="1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competitors</a:t>
            </a:r>
            <a:r>
              <a:rPr lang="en-US" sz="1600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 might also implement </a:t>
            </a:r>
            <a:r>
              <a:rPr lang="en-US" sz="1600" dirty="0" err="1">
                <a:solidFill>
                  <a:srgbClr val="0E101A"/>
                </a:solidFill>
                <a:effectLst/>
                <a:latin typeface="Helvetica Neue" panose="020B0604020202020204" charset="0"/>
              </a:rPr>
              <a:t>IEBP</a:t>
            </a:r>
            <a:r>
              <a:rPr lang="en-US" sz="1600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 </a:t>
            </a:r>
            <a:r>
              <a:rPr lang="en-US" sz="1600" b="1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at an even lower price. </a:t>
            </a:r>
            <a:r>
              <a:rPr lang="en-US" sz="1600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The company has to consider these to </a:t>
            </a:r>
            <a:r>
              <a:rPr lang="en-US" sz="1600" b="1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determine profit or loss</a:t>
            </a:r>
            <a:br>
              <a:rPr lang="en-US" sz="1600" b="1" dirty="0">
                <a:solidFill>
                  <a:srgbClr val="0E101A"/>
                </a:solidFill>
                <a:effectLst/>
                <a:latin typeface="Helvetica Neue" panose="020B0604020202020204" charset="0"/>
              </a:rPr>
            </a:br>
            <a:endParaRPr lang="en-US" sz="1600" dirty="0">
              <a:solidFill>
                <a:srgbClr val="0E101A"/>
              </a:solidFill>
              <a:effectLst/>
              <a:latin typeface="Helvetica Neue" panose="020B0604020202020204" charset="0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Surveys </a:t>
            </a:r>
            <a:r>
              <a:rPr lang="en-US" sz="1600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needed for customers' preferred </a:t>
            </a:r>
            <a:r>
              <a:rPr lang="en-US" sz="1600" b="1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vouchers</a:t>
            </a:r>
            <a:r>
              <a:rPr lang="en-US" sz="1600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 and </a:t>
            </a:r>
            <a:r>
              <a:rPr lang="en-US" sz="1600" b="1" dirty="0">
                <a:solidFill>
                  <a:srgbClr val="0E101A"/>
                </a:solidFill>
                <a:effectLst/>
                <a:latin typeface="Helvetica Neue" panose="020B0604020202020204" charset="0"/>
              </a:rPr>
              <a:t>government health agency collaboration</a:t>
            </a:r>
            <a:endParaRPr lang="en-US" sz="1600" dirty="0">
              <a:solidFill>
                <a:srgbClr val="0E101A"/>
              </a:solidFill>
              <a:effectLst/>
              <a:latin typeface="Helvetica Neue" panose="020B0604020202020204" charset="0"/>
            </a:endParaRPr>
          </a:p>
          <a:p>
            <a:pPr marL="457200" lvl="0" indent="-3302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Helvetica Neue"/>
              <a:buChar char="●"/>
            </a:pPr>
            <a:endParaRPr lang="en" sz="16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>
            <a:spLocks noGrp="1"/>
          </p:cNvSpPr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Conclusion</a:t>
            </a:r>
            <a:endParaRPr sz="2400" b="1"/>
          </a:p>
        </p:txBody>
      </p:sp>
      <p:sp>
        <p:nvSpPr>
          <p:cNvPr id="178" name="Google Shape;178;p26"/>
          <p:cNvSpPr txBox="1"/>
          <p:nvPr/>
        </p:nvSpPr>
        <p:spPr>
          <a:xfrm>
            <a:off x="331000" y="694579"/>
            <a:ext cx="8526900" cy="3928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lvl="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</a:pPr>
            <a:r>
              <a:rPr lang="en" sz="1600" b="1" dirty="0">
                <a:latin typeface="Helvetica Neue"/>
                <a:ea typeface="Helvetica Neue"/>
                <a:cs typeface="Helvetica Neue"/>
                <a:sym typeface="Helvetica Neue"/>
              </a:rPr>
              <a:t>What have you learnt? </a:t>
            </a:r>
          </a:p>
          <a:p>
            <a:pPr marL="412750" lvl="0" indent="-28575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latin typeface="Helvetica Neue"/>
                <a:ea typeface="Helvetica Neue"/>
                <a:cs typeface="Helvetica Neue"/>
                <a:sym typeface="Helvetica Neue"/>
              </a:rPr>
              <a:t>I have learnt new technical skills like python, tableau and sql</a:t>
            </a:r>
          </a:p>
          <a:p>
            <a:pPr marL="412750" lvl="0" indent="-28575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latin typeface="Helvetica Neue"/>
                <a:ea typeface="Helvetica Neue"/>
                <a:cs typeface="Helvetica Neue"/>
                <a:sym typeface="Helvetica Neue"/>
              </a:rPr>
              <a:t>Identify different sources of data and basic data quality standards</a:t>
            </a:r>
          </a:p>
          <a:p>
            <a:pPr marL="412750" lvl="0" indent="-28575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latin typeface="Helvetica Neue"/>
                <a:ea typeface="Helvetica Neue"/>
                <a:cs typeface="Helvetica Neue"/>
                <a:sym typeface="Helvetica Neue"/>
              </a:rPr>
              <a:t>Apply the right visualisation for different types of charts</a:t>
            </a:r>
          </a:p>
          <a:p>
            <a:pPr marL="127000" lvl="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</a:pPr>
            <a:r>
              <a:rPr lang="en" sz="1600" b="1" dirty="0">
                <a:latin typeface="Helvetica Neue"/>
                <a:ea typeface="Helvetica Neue"/>
                <a:cs typeface="Helvetica Neue"/>
                <a:sym typeface="Helvetica Neue"/>
              </a:rPr>
              <a:t>What were the main challenges in applying data analytics skills to this project?</a:t>
            </a:r>
          </a:p>
          <a:p>
            <a:pPr marL="412750" lvl="0" indent="-28575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latin typeface="Helvetica Neue"/>
                <a:ea typeface="Helvetica Neue"/>
                <a:cs typeface="Helvetica Neue"/>
                <a:sym typeface="Helvetica Neue"/>
              </a:rPr>
              <a:t>To identify and research problem statement and recommendations</a:t>
            </a:r>
          </a:p>
          <a:p>
            <a:pPr marL="412750" lvl="0" indent="-28575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Arial" panose="020B0604020202020204" pitchFamily="34" charset="0"/>
              <a:buChar char="•"/>
            </a:pPr>
            <a:r>
              <a:rPr lang="en" sz="1600" dirty="0">
                <a:latin typeface="Helvetica Neue"/>
                <a:ea typeface="Helvetica Neue"/>
                <a:cs typeface="Helvetica Neue"/>
                <a:sym typeface="Helvetica Neue"/>
              </a:rPr>
              <a:t>Limited data columns from excel</a:t>
            </a:r>
          </a:p>
          <a:p>
            <a:pPr marL="412750" lvl="0" indent="-28575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Arial" panose="020B0604020202020204" pitchFamily="34" charset="0"/>
              <a:buChar char="•"/>
            </a:pPr>
            <a:endParaRPr lang="en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0" lvl="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</a:pPr>
            <a:endParaRPr lang="en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30200" algn="l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Helvetica Neue"/>
              <a:buChar char="●"/>
            </a:pPr>
            <a:endParaRPr sz="16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50052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THANK YOU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2128</TotalTime>
  <Words>1016</Words>
  <Application>Microsoft Office PowerPoint</Application>
  <PresentationFormat>On-screen Show (16:9)</PresentationFormat>
  <Paragraphs>147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Helvetica Neue</vt:lpstr>
      <vt:lpstr>Source Sans Pro</vt:lpstr>
      <vt:lpstr>Roboto</vt:lpstr>
      <vt:lpstr>Viga</vt:lpstr>
      <vt:lpstr>Material</vt:lpstr>
      <vt:lpstr>Case Study 3 Insurance Premium</vt:lpstr>
      <vt:lpstr>Case Study – Insurance Premium</vt:lpstr>
      <vt:lpstr>Data </vt:lpstr>
      <vt:lpstr>Data </vt:lpstr>
      <vt:lpstr>Exploratory Data Analysis (1/2)</vt:lpstr>
      <vt:lpstr>Exploratory Data Analysis (1/2)</vt:lpstr>
      <vt:lpstr>Exploratory Data Analysis (2/2)</vt:lpstr>
      <vt:lpstr>Exploratory Data Analysis (2/2)</vt:lpstr>
      <vt:lpstr>Exploratory Data Analysis (2/2)</vt:lpstr>
      <vt:lpstr>Exploratory Data Analysis (2/2)</vt:lpstr>
      <vt:lpstr>Dashboard</vt:lpstr>
      <vt:lpstr>Strategy: Key Recommendations</vt:lpstr>
      <vt:lpstr>Strategy: Key Recommendations</vt:lpstr>
      <vt:lpstr>Strategy: Key Recommendations</vt:lpstr>
      <vt:lpstr>Strategy: Key Recommendations</vt:lpstr>
      <vt:lpstr>Strategy: Key Recommendations</vt:lpstr>
      <vt:lpstr>Strategy: Key Recommendations</vt:lpstr>
      <vt:lpstr>Strategy: Key Recommendations</vt:lpstr>
      <vt:lpstr>Conclusion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X</dc:title>
  <dc:creator>Jeff Ng</dc:creator>
  <cp:lastModifiedBy>Jeff•Rey™ Ng</cp:lastModifiedBy>
  <cp:revision>139</cp:revision>
  <dcterms:modified xsi:type="dcterms:W3CDTF">2022-07-01T01:50:19Z</dcterms:modified>
</cp:coreProperties>
</file>